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08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008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296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6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296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296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296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296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296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296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1440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440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440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1440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440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440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440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440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584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584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584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584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584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584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584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584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9728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9728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9728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9728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9728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9728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9728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9728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887200" y="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887200" y="914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887200" y="1828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887200" y="27432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887200" y="36576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887200" y="45720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887200" y="54864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887200" y="6400800"/>
            <a:ext cx="36576" cy="36576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743200" y="1371600"/>
            <a:ext cx="6400800" cy="4572000"/>
          </a:xfrm>
          <a:prstGeom prst="rect">
            <a:avLst/>
          </a:prstGeom>
          <a:solidFill>
            <a:srgbClr val="0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023360" y="502920"/>
            <a:ext cx="4114800" cy="347472"/>
          </a:xfrm>
          <a:prstGeom prst="rect">
            <a:avLst/>
          </a:prstGeom>
          <a:solidFill>
            <a:srgbClr val="0D2A48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023360" y="49377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F97F7"/>
                </a:solidFill>
                <a:latin typeface="Segoe UI"/>
              </a:rPr>
              <a:t>● FINAL YEAR PROJECT — 2025-2026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286000" y="100584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 i="0">
                <a:solidFill>
                  <a:srgbClr val="2F97F7"/>
                </a:solidFill>
                <a:latin typeface="Segoe UI"/>
              </a:rPr>
              <a:t>INTELLI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80760" y="100584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"/>
              </a:rPr>
              <a:t>HIRE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71600" y="22402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Segoe UI"/>
              </a:rPr>
              <a:t>AI-Powered Candidate Screening &amp; Interview Automation System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114800" y="2788920"/>
            <a:ext cx="3959352" cy="1828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474720" y="2971800"/>
            <a:ext cx="5212080" cy="384048"/>
          </a:xfrm>
          <a:prstGeom prst="rect">
            <a:avLst/>
          </a:prstGeom>
          <a:solidFill>
            <a:srgbClr val="0A22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74720" y="296265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Segoe UI"/>
              </a:rPr>
              <a:t>🌐  Live at  intellihire.com.pk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71600" y="3520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7AA0"/>
                </a:solidFill>
                <a:latin typeface="Segoe UI"/>
              </a:rPr>
              <a:t>PROJECT TEAM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71600" y="37947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22K-4418   Muhammad Omer Khan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71600" y="40507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22K-4428   Muhib Siddiqui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71600" y="43068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22K-4403   Syed Muhammad Salik Ahmed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75120" y="3520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7AA0"/>
                </a:solidFill>
                <a:latin typeface="Segoe UI"/>
              </a:rPr>
              <a:t>PROJECT DETAILS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75120" y="3794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Supervisor:   Miss Sobia Iftikhar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7512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Type:            Final Year Project (2025-2026)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675120" y="43068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egoe UI"/>
              </a:rPr>
              <a:t>Institution:   FAST NUCES Karachi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Identifying the core inefficiencies IntelliHire was designed to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45262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566160" cy="54864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97F7"/>
                </a:solidFill>
                <a:latin typeface="Segoe UI"/>
              </a:rPr>
              <a:t>Recruitment Bottlenecks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23160"/>
            <a:ext cx="91440" cy="9144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359152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Manual screening is slow, inconsistent, and bias-prone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88336"/>
            <a:ext cx="91440" cy="9144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624328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HR teams spend 70% of time on initial screening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53512"/>
            <a:ext cx="91440" cy="9144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889504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Candidates wait weeks before a single interaction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218688"/>
            <a:ext cx="91440" cy="9144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3154680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Limited evaluation depth from manual shortlisting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828800"/>
            <a:ext cx="3566160" cy="4526280"/>
          </a:xfrm>
          <a:prstGeom prst="rect">
            <a:avLst/>
          </a:prstGeom>
          <a:solidFill>
            <a:srgbClr val="0D1B3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78808" y="182880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9385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HR Information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423160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359152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Employees depend on HR staff for basic policy queries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2688336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2624328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No centralized, searchable HR document knowledge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295351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889504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No secure authenticated access for personalized retrieval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0416" y="1828800"/>
            <a:ext cx="3566160" cy="4526280"/>
          </a:xfrm>
          <a:prstGeom prst="rect">
            <a:avLst/>
          </a:prstGeom>
          <a:solidFill>
            <a:srgbClr val="0D1B33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0416" y="1828800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7576" y="19385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egoe UI"/>
              </a:rPr>
              <a:t>The System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6" y="2423160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2359152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No integrated platform combines AI screening with an HR assistant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7576" y="268833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2624328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No scalable system for automated interviews with live proctoring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7576" y="2953512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2889504"/>
            <a:ext cx="31729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Companies use expensive enterprise tools or fully manual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Key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Core goals that define the scope and purpose of IntelliHire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45262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566160" cy="54864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97F7"/>
                </a:solidFill>
                <a:latin typeface="Segoe UI"/>
              </a:rPr>
              <a:t>AI-Driven Recruitment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87168"/>
            <a:ext cx="91440" cy="9144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423160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End-to-end AI screening from CV upload to final evaluation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98064"/>
            <a:ext cx="91440" cy="9144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734056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Voice-based AI interviews with real-time dynamic follow-up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08960"/>
            <a:ext cx="91440" cy="9144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044952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Multi-modal analysis — voice, face, gaze — for holistic assessment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8" y="1828800"/>
            <a:ext cx="3566160" cy="452628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78808" y="182880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Intelligent HR Assistance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2487168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2423160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RAG-based HR chatbot for instant policy and document 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798064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734056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Secure employee self-service for personalized knowledge retrieval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3108960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044952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Reduce HR workload by automating routine information 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0416" y="1828800"/>
            <a:ext cx="3566160" cy="452628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0416" y="182880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7576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Comprehensive Analytics &amp; Integrity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7576" y="2487168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423160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Detailed candidate reports with multi-dimensional scoring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6" y="2798064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2734056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Data-driven feedback to streamline HR decision-making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7576" y="310896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3044952"/>
            <a:ext cx="3172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Real-time proctoring ensuring fair and tamper-free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Four-layer architecture powering intelligent recruitment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4552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8229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84248"/>
            <a:ext cx="457200" cy="4114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7F7"/>
                </a:solidFill>
                <a:latin typeface="Segoe UI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928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97F7"/>
                </a:solidFill>
                <a:latin typeface="Segoe UI"/>
              </a:rP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219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A0B8"/>
                </a:solidFill>
                <a:latin typeface="Segoe UI"/>
              </a:rPr>
              <a:t>React 19 · TypeScript · Material UI · Socket.IO · WebRTC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039112"/>
            <a:ext cx="155448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0391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F97F7"/>
                </a:solidFill>
                <a:latin typeface="Segoe UI"/>
              </a:rPr>
              <a:t>Interview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2039112"/>
            <a:ext cx="155448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0391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F97F7"/>
                </a:solidFill>
                <a:latin typeface="Segoe UI"/>
              </a:rPr>
              <a:t>HR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54896" y="2039112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20391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F97F7"/>
                </a:solidFill>
                <a:latin typeface="Segoe UI"/>
              </a:rPr>
              <a:t>Candidate Portal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59184" y="2039112"/>
            <a:ext cx="155448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59184" y="20391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F97F7"/>
                </a:solidFill>
                <a:latin typeface="Segoe UI"/>
              </a:rPr>
              <a:t>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619756"/>
            <a:ext cx="1188720" cy="128016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610612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8AA0B8"/>
                </a:solidFill>
                <a:latin typeface="Segoe UI"/>
              </a:rPr>
              <a:t>↕  REST + WebSocket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52344"/>
            <a:ext cx="11274552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752344"/>
            <a:ext cx="73152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2953512"/>
            <a:ext cx="457200" cy="41148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53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Segoe UI"/>
              </a:rPr>
              <a:t>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APPLICATION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19125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A0B8"/>
                </a:solidFill>
                <a:latin typeface="Segoe UI"/>
              </a:rPr>
              <a:t>Flask 3.0 · JWT Auth · SQLAlchemy · Flask-CORS · Gunicorn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008376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00837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Segoe UI"/>
              </a:rPr>
              <a:t>Interview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30768" y="3008376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300837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Segoe UI"/>
              </a:rPr>
              <a:t>CV / HR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35056" y="3008376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35056" y="300837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Segoe UI"/>
              </a:rPr>
              <a:t>Proctoring Pipeline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589020"/>
            <a:ext cx="1188720" cy="128016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579876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8AA0B8"/>
                </a:solidFill>
                <a:latin typeface="Segoe UI"/>
              </a:rPr>
              <a:t>↕  LangChain / API Calls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21608"/>
            <a:ext cx="11274552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721608"/>
            <a:ext cx="73152" cy="822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3922776"/>
            <a:ext cx="457200" cy="411480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9227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Segoe UI"/>
              </a:rPr>
              <a:t>L3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38313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  <a:latin typeface="Segoe UI"/>
              </a:rPr>
              <a:t>AI / ML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160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A0B8"/>
                </a:solidFill>
                <a:latin typeface="Segoe UI"/>
              </a:rPr>
              <a:t>DeepSeek · LangChain · ChromaDB · YOLOv8 · MediaPipe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977640"/>
            <a:ext cx="155448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9776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855F7"/>
                </a:solidFill>
                <a:latin typeface="Segoe UI"/>
              </a:rPr>
              <a:t>STT / TTS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90688" y="3977640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0688" y="397764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855F7"/>
                </a:solidFill>
                <a:latin typeface="Segoe UI"/>
              </a:rPr>
              <a:t>RAG + Embeddings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94976" y="3977640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94976" y="397764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855F7"/>
                </a:solidFill>
                <a:latin typeface="Segoe UI"/>
              </a:rPr>
              <a:t>Gaze &amp; Object Detection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4558284"/>
            <a:ext cx="1188720" cy="128016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54914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8AA0B8"/>
                </a:solidFill>
                <a:latin typeface="Segoe UI"/>
              </a:rPr>
              <a:t>↕  ORM + Vector Queries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690872"/>
            <a:ext cx="11274552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690872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" y="4892040"/>
            <a:ext cx="457200" cy="41148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892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L4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48006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DATA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51297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A0B8"/>
                </a:solidFill>
                <a:latin typeface="Segoe UI"/>
              </a:rPr>
              <a:t>MySQL (Relational) · ChromaDB (Vector Store)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4946904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494690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0B981"/>
                </a:solidFill>
                <a:latin typeface="Segoe UI"/>
              </a:rPr>
              <a:t>User &amp; Interview 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30768" y="4946904"/>
            <a:ext cx="2194560" cy="310896"/>
          </a:xfrm>
          <a:prstGeom prst="rect">
            <a:avLst/>
          </a:prstGeom>
          <a:solidFill>
            <a:srgbClr val="0A182E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0768" y="494690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0B981"/>
                </a:solidFill>
                <a:latin typeface="Segoe UI"/>
              </a:rPr>
              <a:t>Embeddings &amp;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Production-grade technologies powering every layer of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97F7"/>
                </a:solidFill>
                <a:latin typeface="Segoe UI"/>
              </a:rPr>
              <a:t>Backend Technologies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75688"/>
            <a:ext cx="5486400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4864" cy="42976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Python / Flask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8658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REST API + WebSocket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54864" cy="4297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791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DeepSeek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712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LLM engine — Q&amp;A generation,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18104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18104"/>
            <a:ext cx="54864" cy="429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1638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LangChain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558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AI orchestration &amp; RAG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02736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02736"/>
            <a:ext cx="54864" cy="4297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484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Vector store for CV &amp; JD 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87368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87368"/>
            <a:ext cx="54864" cy="429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33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YOLOv8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32511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Object detection for proctoring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447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54864" cy="429768"/>
          </a:xfrm>
          <a:prstGeom prst="rect">
            <a:avLst/>
          </a:prstGeom>
          <a:solidFill>
            <a:srgbClr val="447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6177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80974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Primary relational DB (SQLAlchemy ORM)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56632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56632"/>
            <a:ext cx="54864" cy="4297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023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MediaPipe + OpenCV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29437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Gaze tracking &amp; facial landmark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41264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541264"/>
            <a:ext cx="54864" cy="429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5869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SpeechRecognition + gTTS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7790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STT / TTS pipeline for voice interviews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783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Frontend Technologies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075688"/>
            <a:ext cx="548640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2148840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148840"/>
            <a:ext cx="54864" cy="4297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1945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React 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238658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Modern UI library with hooks &amp; 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633472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31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2633472"/>
            <a:ext cx="54864" cy="429768"/>
          </a:xfrm>
          <a:prstGeom prst="rect">
            <a:avLst/>
          </a:prstGeom>
          <a:solidFill>
            <a:srgbClr val="31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26791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TypeScript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28712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Type-safe frontend development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118104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3118104"/>
            <a:ext cx="54864" cy="42976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31638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Material UI (MUI)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33558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Component library &amp; theming 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602736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3602736"/>
            <a:ext cx="54864" cy="429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36484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Socket.IO Client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38404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Real-time WebSocket communication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087368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4087368"/>
            <a:ext cx="54864" cy="42976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4133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WebRTC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32511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Browser-based video &amp; audio capture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4572000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4572000"/>
            <a:ext cx="54864" cy="4297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7960" y="46177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Recharts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480974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Data visualization &amp; analytics charts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056632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5056632"/>
            <a:ext cx="54864" cy="4297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37960" y="51023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Axios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529437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HTTP client for REST API integration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5541264"/>
            <a:ext cx="5577840" cy="429768"/>
          </a:xfrm>
          <a:prstGeom prst="rect">
            <a:avLst/>
          </a:prstGeom>
          <a:solidFill>
            <a:srgbClr val="0D1B33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5541264"/>
            <a:ext cx="54864" cy="4297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55869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React Router v6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37960" y="57790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Segoe UI"/>
              </a:rPr>
              <a:t>Client-side routing &amp; navigation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Core Feature —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AI Interview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Six-stage pipeline from interviewer setup to scored final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749039" cy="20116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749039" cy="4572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38528"/>
            <a:ext cx="457200" cy="457200"/>
          </a:xfrm>
          <a:prstGeom prst="rect">
            <a:avLst/>
          </a:prstGeom>
          <a:solidFill>
            <a:srgbClr val="051022"/>
          </a:solidFill>
          <a:ln w="1270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97F7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97F7"/>
                </a:solidFill>
                <a:latin typeface="Segoe UI"/>
              </a:rPr>
              <a:t>Interviewer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34747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HR defines job description, scoring weights, evaluation criteria, must-ask questions &amp; behavioral constraints.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7" y="1828800"/>
            <a:ext cx="3749039" cy="201168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7" y="1828800"/>
            <a:ext cx="3749039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7" y="1938528"/>
            <a:ext cx="457200" cy="457200"/>
          </a:xfrm>
          <a:prstGeom prst="rect">
            <a:avLst/>
          </a:prstGeom>
          <a:solidFill>
            <a:srgbClr val="0510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7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7" y="196596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CV Upload &amp;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7" y="2450592"/>
            <a:ext cx="34747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Candidate uploads CV → text extraction → Sentence Transformer embeddings → ChromaDB → semantic JD matching.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4" y="1828800"/>
            <a:ext cx="3749039" cy="2011680"/>
          </a:xfrm>
          <a:prstGeom prst="rect">
            <a:avLst/>
          </a:prstGeom>
          <a:solidFill>
            <a:srgbClr val="0D1B33"/>
          </a:solidFill>
          <a:ln w="9525">
            <a:solidFill>
              <a:srgbClr val="58A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4" y="1828800"/>
            <a:ext cx="3749039" cy="45720"/>
          </a:xfrm>
          <a:prstGeom prst="rect">
            <a:avLst/>
          </a:prstGeom>
          <a:solidFill>
            <a:srgbClr val="58A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03334" y="1938528"/>
            <a:ext cx="457200" cy="457200"/>
          </a:xfrm>
          <a:prstGeom prst="rect">
            <a:avLst/>
          </a:prstGeom>
          <a:solidFill>
            <a:srgbClr val="051022"/>
          </a:solidFill>
          <a:ln w="12700">
            <a:solidFill>
              <a:srgbClr val="58A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4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CEE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4" y="196596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CEE"/>
                </a:solidFill>
                <a:latin typeface="Segoe UI"/>
              </a:rPr>
              <a:t>Question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4" y="2450592"/>
            <a:ext cx="34747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DeepSeek generates tailored questions from CV-JD match, interviewer params, role requirements via RAG pipeline.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50208"/>
            <a:ext cx="3749039" cy="20116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50208"/>
            <a:ext cx="3749039" cy="4572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059936"/>
            <a:ext cx="457200" cy="457200"/>
          </a:xfrm>
          <a:prstGeom prst="rect">
            <a:avLst/>
          </a:prstGeom>
          <a:solidFill>
            <a:srgbClr val="051022"/>
          </a:solidFill>
          <a:ln w="1270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059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97F7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87368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97F7"/>
                </a:solidFill>
                <a:latin typeface="Segoe UI"/>
              </a:rPr>
              <a:t>Live AI Interview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572000"/>
            <a:ext cx="34747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Voice interview via STT/TTS over WebSocket. Sub-200ms audio segmentation. Multi-turn dialogue with sliding context.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1687" y="3950208"/>
            <a:ext cx="3749039" cy="2011680"/>
          </a:xfrm>
          <a:prstGeom prst="rect">
            <a:avLst/>
          </a:prstGeom>
          <a:solidFill>
            <a:srgbClr val="0D1B3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7" y="3950208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98847" y="4059936"/>
            <a:ext cx="457200" cy="457200"/>
          </a:xfrm>
          <a:prstGeom prst="rect">
            <a:avLst/>
          </a:prstGeom>
          <a:solidFill>
            <a:srgbClr val="0510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7" y="4059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Segoe U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7" y="4087368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Real-time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7" y="4572000"/>
            <a:ext cx="34747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YOLOv8 detects people &amp; phones. MediaPipe tracks gaze. Browser Visibility API logs tab switches — all timestamped.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6174" y="3950208"/>
            <a:ext cx="3749039" cy="201168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66174" y="3950208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03334" y="4059936"/>
            <a:ext cx="457200" cy="457200"/>
          </a:xfrm>
          <a:prstGeom prst="rect">
            <a:avLst/>
          </a:prstGeom>
          <a:solidFill>
            <a:srgbClr val="0510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3334" y="4059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Segoe U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1974" y="4087368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Scoring &amp;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4" y="4572000"/>
            <a:ext cx="34747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Multi-modal scoring across 5 dimensions via DeepSeek. Full report with sentiment timeline, proctoring log &amp;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Anti-Cheating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Real-Time Proctoring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Multi-layered integrity monitoring for fair and secure interview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532120" cy="210312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532120" cy="4572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938528"/>
            <a:ext cx="1188720" cy="274320"/>
          </a:xfrm>
          <a:prstGeom prst="rect">
            <a:avLst/>
          </a:prstGeom>
          <a:solidFill>
            <a:srgbClr val="051022"/>
          </a:solidFill>
          <a:ln w="63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F97F7"/>
                </a:solidFill>
                <a:latin typeface="Segoe UI"/>
              </a:rPr>
              <a:t>30 fps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97F7"/>
                </a:solidFill>
                <a:latin typeface="Segoe UI"/>
              </a:rPr>
              <a:t>Gaze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5166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MediaPipe eye landmark detection flags sustained off-screen gaze at 30 fps with configurable thresholds.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5532120" cy="2103120"/>
          </a:xfrm>
          <a:prstGeom prst="rect">
            <a:avLst/>
          </a:prstGeom>
          <a:solidFill>
            <a:srgbClr val="0D1B3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5532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32720" y="1938528"/>
            <a:ext cx="1188720" cy="274320"/>
          </a:xfrm>
          <a:prstGeom prst="rect">
            <a:avLst/>
          </a:prstGeom>
          <a:solidFill>
            <a:srgbClr val="05102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9E0B"/>
                </a:solidFill>
                <a:latin typeface="Segoe UI"/>
              </a:rPr>
              <a:t>YOLOv8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38528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Mobile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59152"/>
            <a:ext cx="5166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YOLOv8 detects phones, tablets, and secondary screens with bounding-box overlay on every video frame.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41648"/>
            <a:ext cx="5532120" cy="2103120"/>
          </a:xfrm>
          <a:prstGeom prst="rect">
            <a:avLst/>
          </a:prstGeom>
          <a:solidFill>
            <a:srgbClr val="0D1B33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41648"/>
            <a:ext cx="55321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4151376"/>
            <a:ext cx="1188720" cy="274320"/>
          </a:xfrm>
          <a:prstGeom prst="rect">
            <a:avLst/>
          </a:prstGeom>
          <a:solidFill>
            <a:srgbClr val="051022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151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F4444"/>
                </a:solidFill>
                <a:latin typeface="Segoe UI"/>
              </a:rPr>
              <a:t>Event-based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5137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Segoe UI"/>
              </a:rPr>
              <a:t>Tab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5166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Browser Visibility API records every focus-loss event with timestamp &amp; duration. Candidates are immediately flagged.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041648"/>
            <a:ext cx="5532120" cy="2103120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041648"/>
            <a:ext cx="553212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32720" y="4151376"/>
            <a:ext cx="1188720" cy="274320"/>
          </a:xfrm>
          <a:prstGeom prst="rect">
            <a:avLst/>
          </a:prstGeom>
          <a:solidFill>
            <a:srgbClr val="051022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4151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55F7"/>
                </a:solidFill>
                <a:latin typeface="Segoe UI"/>
              </a:rPr>
              <a:t>Real-time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5137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  <a:latin typeface="Segoe UI"/>
              </a:rPr>
              <a:t>Multi-Person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572000"/>
            <a:ext cx="5166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YOLOv8 person detection identifies if multiple individuals are present. Immediate flag with frame capture for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Evaluation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Multi-Modal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Five-dimensional candidate evaluation powered by DeepSeek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2176272" cy="411480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176272" cy="54864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39112" y="1965959"/>
            <a:ext cx="502920" cy="347472"/>
          </a:xfrm>
          <a:prstGeom prst="rect">
            <a:avLst/>
          </a:prstGeom>
          <a:solidFill>
            <a:srgbClr val="051022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96595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97F7"/>
                </a:solidFill>
                <a:latin typeface="Segoe U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1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97F7"/>
                </a:solidFill>
                <a:latin typeface="Segoe UI"/>
              </a:rPr>
              <a:t>Verbal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90087"/>
            <a:ext cx="19568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Lexical hedging, filler-word density, assertiveness markers in speech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1874519"/>
            <a:ext cx="2176272" cy="411480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1488" y="1874519"/>
            <a:ext cx="217627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65959"/>
            <a:ext cx="502920" cy="347472"/>
          </a:xfrm>
          <a:prstGeom prst="rect">
            <a:avLst/>
          </a:prstGeom>
          <a:solidFill>
            <a:srgbClr val="0510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96595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Segoe U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2404871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Semantic 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2990087"/>
            <a:ext cx="19568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Cosine similarity + DeepSeek judgment score against rubric expected answers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1874519"/>
            <a:ext cx="2176272" cy="411480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874519"/>
            <a:ext cx="217627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47688" y="1965959"/>
            <a:ext cx="502920" cy="347472"/>
          </a:xfrm>
          <a:prstGeom prst="rect">
            <a:avLst/>
          </a:prstGeom>
          <a:solidFill>
            <a:srgbClr val="0510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96595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Segoe UI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2404871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Sentiment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2990087"/>
            <a:ext cx="19568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Real-time sentiment via speech transcription and facial micro-expression timeline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0064" y="1874519"/>
            <a:ext cx="2176272" cy="4114800"/>
          </a:xfrm>
          <a:prstGeom prst="rect">
            <a:avLst/>
          </a:prstGeom>
          <a:solidFill>
            <a:srgbClr val="0D1B3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0064" y="1874519"/>
            <a:ext cx="217627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1976" y="1965959"/>
            <a:ext cx="502920" cy="347472"/>
          </a:xfrm>
          <a:prstGeom prst="rect">
            <a:avLst/>
          </a:prstGeom>
          <a:solidFill>
            <a:srgbClr val="051022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196595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404871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Proctoring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2990087"/>
            <a:ext cx="19568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Gaze tracking, mobile/person detection, tab monitoring aggregated anomaly 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874519"/>
            <a:ext cx="2176272" cy="4114800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74352" y="1874519"/>
            <a:ext cx="2176272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56264" y="1965959"/>
            <a:ext cx="502920" cy="347472"/>
          </a:xfrm>
          <a:prstGeom prst="rect">
            <a:avLst/>
          </a:prstGeom>
          <a:solidFill>
            <a:srgbClr val="051022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56264" y="196595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55F7"/>
                </a:solidFill>
                <a:latin typeface="Segoe UI"/>
              </a:rPr>
              <a:t>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404871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Segoe UI"/>
              </a:rPr>
              <a:t>CV Relevance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990087"/>
            <a:ext cx="19568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ATS scoring: skills match, experience, education, projects, certifications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53911"/>
            <a:ext cx="2254906" cy="20116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53911"/>
            <a:ext cx="225490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0C1A"/>
                </a:solidFill>
                <a:latin typeface="Segoe UI"/>
              </a:rPr>
              <a:t>20%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12110" y="6153911"/>
            <a:ext cx="3382361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2110" y="6153911"/>
            <a:ext cx="338236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0C1A"/>
                </a:solidFill>
                <a:latin typeface="Segoe UI"/>
              </a:rPr>
              <a:t>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5" y="6153911"/>
            <a:ext cx="169117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4475" y="6153911"/>
            <a:ext cx="16911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0C1A"/>
                </a:solidFill>
                <a:latin typeface="Segoe UI"/>
              </a:rPr>
              <a:t>15%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85657" y="6153911"/>
            <a:ext cx="169117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85657" y="6153911"/>
            <a:ext cx="16911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0C1A"/>
                </a:solidFill>
                <a:latin typeface="Segoe UI"/>
              </a:rPr>
              <a:t>15%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76839" y="6153911"/>
            <a:ext cx="2254906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76839" y="6153911"/>
            <a:ext cx="225490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0C1A"/>
                </a:solidFill>
                <a:latin typeface="Segoe UI"/>
              </a:rPr>
              <a:t>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Module 2 — HR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Intelligent HR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RAG-based document Q&amp;A system — instant access to policies, procedures, and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303520" cy="4572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75104"/>
            <a:ext cx="502920" cy="502920"/>
          </a:xfrm>
          <a:prstGeom prst="rect">
            <a:avLst/>
          </a:prstGeom>
          <a:solidFill>
            <a:srgbClr val="0A182E"/>
          </a:solidFill>
          <a:ln w="63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9202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97F7"/>
                </a:solidFill>
                <a:latin typeface="Segoe UI"/>
              </a:rPr>
              <a:t>Document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128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Upload PDF, DOCX, TXT → auto-extract → semantic chunking → vector 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24912"/>
            <a:ext cx="530352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24912"/>
            <a:ext cx="53035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871216"/>
            <a:ext cx="502920" cy="502920"/>
          </a:xfrm>
          <a:prstGeom prst="rect">
            <a:avLst/>
          </a:prstGeom>
          <a:solidFill>
            <a:srgbClr val="0A18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52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81635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RAG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1089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Sentence Transformers (all-MiniLM-L6-v2) → ChromaDB similarity search → context injection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21024"/>
            <a:ext cx="530352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21024"/>
            <a:ext cx="53035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767328"/>
            <a:ext cx="502920" cy="502920"/>
          </a:xfrm>
          <a:prstGeom prst="rect">
            <a:avLst/>
          </a:prstGeom>
          <a:solidFill>
            <a:srgbClr val="0A182E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749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71246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AI Response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0050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Retrieved context + query → Gemini AI → cited, accurate answers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17136"/>
            <a:ext cx="530352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17136"/>
            <a:ext cx="530352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663440"/>
            <a:ext cx="502920" cy="502920"/>
          </a:xfrm>
          <a:prstGeom prst="rect">
            <a:avLst/>
          </a:prstGeom>
          <a:solidFill>
            <a:srgbClr val="0A182E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6451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60857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Segoe UI"/>
              </a:rPr>
              <a:t>Multi-Turn Conversations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9011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Session-based history tracking with intent classification and context awareness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13248"/>
            <a:ext cx="530352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413248"/>
            <a:ext cx="5303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559552"/>
            <a:ext cx="502920" cy="502920"/>
          </a:xfrm>
          <a:prstGeom prst="rect">
            <a:avLst/>
          </a:prstGeom>
          <a:solidFill>
            <a:srgbClr val="0A182E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5412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550468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Role-Based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579729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Segoe UI"/>
              </a:rPr>
              <a:t>Admin/HR can upload documents — all employees can query the knowledge base securely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1828800"/>
            <a:ext cx="5760720" cy="484632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97F7"/>
                </a:solidFill>
                <a:latin typeface="Segoe UI"/>
              </a:rPr>
              <a:t>RAG Pipeline 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286000"/>
            <a:ext cx="5394960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2423160"/>
            <a:ext cx="5212080" cy="457200"/>
          </a:xfrm>
          <a:prstGeom prst="rect">
            <a:avLst/>
          </a:prstGeom>
          <a:solidFill>
            <a:srgbClr val="051022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423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F97F7"/>
                </a:solidFill>
                <a:latin typeface="Segoe UI"/>
              </a:rPr>
              <a:t>HR Uploads Document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2898648"/>
            <a:ext cx="91440" cy="128016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026664"/>
            <a:ext cx="5212080" cy="457200"/>
          </a:xfrm>
          <a:prstGeom prst="rect">
            <a:avLst/>
          </a:prstGeom>
          <a:solidFill>
            <a:srgbClr val="0510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0266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D4FF"/>
                </a:solidFill>
                <a:latin typeface="Segoe UI"/>
              </a:rPr>
              <a:t>Text Extraction &amp; Chunking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3502152"/>
            <a:ext cx="9144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5080" y="3630168"/>
            <a:ext cx="5212080" cy="457200"/>
          </a:xfrm>
          <a:prstGeom prst="rect">
            <a:avLst/>
          </a:prstGeom>
          <a:solidFill>
            <a:srgbClr val="051022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36301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855F7"/>
                </a:solidFill>
                <a:latin typeface="Segoe UI"/>
              </a:rPr>
              <a:t>Sentence Transformer Embeddings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4105656"/>
            <a:ext cx="91440" cy="1280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4233672"/>
            <a:ext cx="5212080" cy="457200"/>
          </a:xfrm>
          <a:prstGeom prst="rect">
            <a:avLst/>
          </a:prstGeom>
          <a:solidFill>
            <a:srgbClr val="051022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2336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  <a:latin typeface="Segoe UI"/>
              </a:rPr>
              <a:t>ChromaDB Vector Storage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4709160"/>
            <a:ext cx="91440" cy="1280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4837176"/>
            <a:ext cx="5212080" cy="457200"/>
          </a:xfrm>
          <a:prstGeom prst="rect">
            <a:avLst/>
          </a:prstGeom>
          <a:solidFill>
            <a:srgbClr val="051022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48371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Segoe UI"/>
              </a:rPr>
              <a:t>Employee Query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5400" y="5312664"/>
            <a:ext cx="91440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5080" y="5440680"/>
            <a:ext cx="5212080" cy="457200"/>
          </a:xfrm>
          <a:prstGeom prst="rect">
            <a:avLst/>
          </a:prstGeom>
          <a:solidFill>
            <a:srgbClr val="0510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5440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0B981"/>
                </a:solidFill>
                <a:latin typeface="Segoe UI"/>
              </a:rPr>
              <a:t>Similarity Search + LLM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Core system complete — deployed live on Contabo VPS — final QA and handover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47088"/>
            <a:ext cx="2651760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97F7"/>
                </a:solidFill>
                <a:latin typeface="Segoe UI"/>
              </a:rPr>
              <a:t>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042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Segoe UI"/>
              </a:rPr>
              <a:t>Backend API Routes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47088"/>
            <a:ext cx="2651760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568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Segoe UI"/>
              </a:rPr>
              <a:t>60+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042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Segoe UI"/>
              </a:rPr>
              <a:t>React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47088"/>
            <a:ext cx="2651760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9568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855F7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3042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Segoe UI"/>
              </a:rPr>
              <a:t>AI Models Integrated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847088"/>
            <a:ext cx="2651760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9568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3042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Segoe UI"/>
              </a:rPr>
              <a:t>Scoring Dimensions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5577840" cy="3913632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80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● Completed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22783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Full-stack application (Flask + React + MySQL)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6616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50215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AI interview engine with STT / TTS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4048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77647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RAG-based dynamic question generation (ChromaDB)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1480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05079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Real-time proctoring (YOLOv8 + MediaPipe + Gaze)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8912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32511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Multi-modal scoring &amp; report generation (DeepSeek)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6344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59943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CV upload, parsing &amp; ATS scoring (5 dimensions)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93776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87375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HR dashboard with interview &amp; candidate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1208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14807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Candidate portal with slot booking &amp; results 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48640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42239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Marketing landing page with pricing &amp; onboarding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76072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69671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Role-based access control (Admin / HR / Candidate)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03504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597103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Deployed on Contabo VPS — live at intellihire.com.pk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30936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624535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Production Monitoring — uptime, logs, resource stability on live Contabo VPS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658368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651967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End-to-End Testing — full QA across all portals, edge cases, stress tests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685800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6793992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Segoe UI"/>
              </a:rPr>
              <a:t>Demo &amp; Handover — supervisor demo, documentation, FYP submission package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27648" y="2788920"/>
            <a:ext cx="5577840" cy="3913632"/>
          </a:xfrm>
          <a:prstGeom prst="rect">
            <a:avLst/>
          </a:prstGeom>
          <a:solidFill>
            <a:srgbClr val="0D1B3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8" y="2880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● Future Enhancements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Live production infrastructure running on Contabo VPS — serving intellihire.com.pk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57600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97F7"/>
                </a:solidFill>
                <a:latin typeface="Segoe UI"/>
              </a:rPr>
              <a:t>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8"/>
                </a:solidFill>
                <a:latin typeface="Segoe UI"/>
              </a:rPr>
              <a:t>Landing Page + Marketing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3657600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874519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Segoe UI"/>
              </a:rPr>
              <a:t>GitHub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03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8"/>
                </a:solidFill>
                <a:latin typeface="Segoe UI"/>
              </a:rPr>
              <a:t>CI/CD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828800"/>
            <a:ext cx="3657600" cy="822960"/>
          </a:xfrm>
          <a:prstGeom prst="rect">
            <a:avLst/>
          </a:prstGeom>
          <a:solidFill>
            <a:srgbClr val="0D1B33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874519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  <a:latin typeface="Segoe UI"/>
              </a:rPr>
              <a:t>intellihire.com.pk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203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8"/>
                </a:solidFill>
                <a:latin typeface="Segoe UI"/>
              </a:rPr>
              <a:t>Domain + 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670048"/>
            <a:ext cx="32004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7889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AA0B8"/>
                </a:solidFill>
                <a:latin typeface="Segoe UI"/>
              </a:rPr>
              <a:t>↓  SSH + git pull + 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82112"/>
            <a:ext cx="11274552" cy="324612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97F7"/>
                </a:solidFill>
                <a:latin typeface="Segoe UI"/>
              </a:rPr>
              <a:t>Contabo Cloud VPS 20 — Singapore 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0273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AA0B8"/>
                </a:solidFill>
                <a:latin typeface="Segoe UI"/>
              </a:rPr>
              <a:t>4 vCPU · 8 GB RAM · 200 GB NVMe · ~$6-8/mo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87268" y="398678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7268" y="4078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F97F7"/>
                </a:solidFill>
                <a:latin typeface="Segoe UI"/>
              </a:rPr>
              <a:t>Nginx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7268" y="433425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Reverse Proxy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2020" y="398678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2020" y="4078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D4FF"/>
                </a:solidFill>
                <a:latin typeface="Segoe UI"/>
              </a:rPr>
              <a:t>Flask + PM2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2020" y="433425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API Server (24/7)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6772" y="398678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6772" y="4078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Segoe UI"/>
              </a:rPr>
              <a:t>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6772" y="433425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1524" y="398678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1524" y="4078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Segoe UI"/>
              </a:rPr>
              <a:t>React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1524" y="433425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Static Assets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7268" y="471830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87268" y="48097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F4444"/>
                </a:solidFill>
                <a:latin typeface="Segoe UI"/>
              </a:rPr>
              <a:t>YOLOv8 +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7268" y="50657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ML Inference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2020" y="471830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2020" y="48097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6B6B"/>
                </a:solidFill>
                <a:latin typeface="Segoe UI"/>
              </a:rPr>
              <a:t>ChromaDB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2020" y="50657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Vector Store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6772" y="471830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6772" y="48097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855F7"/>
                </a:solidFill>
                <a:latin typeface="Segoe UI"/>
              </a:rPr>
              <a:t>APScheduler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6772" y="50657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Email Automation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1524" y="4718304"/>
            <a:ext cx="1280160" cy="621792"/>
          </a:xfrm>
          <a:prstGeom prst="rect">
            <a:avLst/>
          </a:prstGeom>
          <a:solidFill>
            <a:srgbClr val="1A2D4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1524" y="48097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Segoe UI"/>
              </a:rPr>
              <a:t>Netdata / UptimeRobot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1524" y="50657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Monitoring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537960"/>
            <a:ext cx="365760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6476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Segoe UI"/>
              </a:rPr>
              <a:t>intellihire.com.pk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995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Segoe UI"/>
              </a:rPr>
              <a:t>Live URL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7178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Production deployment publicly accessible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6537960"/>
            <a:ext cx="365760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0248" y="66476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97F7"/>
                </a:solidFill>
                <a:latin typeface="Segoe UI"/>
              </a:rPr>
              <a:t>5 min alert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6995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Segoe UI"/>
              </a:rPr>
              <a:t>Uptime Monitoring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0248" y="7178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UptimeRobot pings every 5 minutes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83296" y="6537960"/>
            <a:ext cx="3657600" cy="804672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83296" y="66476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Segoe UI"/>
              </a:rPr>
              <a:t>PM2 managed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83296" y="6995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Segoe UI"/>
              </a:rPr>
              <a:t>Auto Recovery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83296" y="7178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A0B8"/>
                </a:solidFill>
                <a:latin typeface="Segoe UI"/>
              </a:rPr>
              <a:t>Auto-restart, survives reboots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1A3A5C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97F7"/>
                </a:solidFill>
                <a:latin typeface="Segoe UI"/>
              </a:rPr>
              <a:t>The Journey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Product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egoe UI"/>
              </a:rPr>
              <a:t>Transforming IntelliHire from a Final Year Project into a commercially viable SaaS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11274552" cy="22860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560320" cy="10972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424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14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97F7"/>
                </a:solidFill>
                <a:latin typeface="Segoe UI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8"/>
                </a:solidFill>
                <a:latin typeface="Segoe UI"/>
              </a:rPr>
              <a:t>Problem identified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377439"/>
            <a:ext cx="457200" cy="54864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40" y="1874519"/>
            <a:ext cx="2560320" cy="10972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98424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4414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97F7"/>
                </a:solidFill>
                <a:latin typeface="Segoe UI"/>
              </a:rPr>
              <a:t>FYP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69747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8"/>
                </a:solidFill>
                <a:latin typeface="Segoe UI"/>
              </a:rPr>
              <a:t>Built the prototype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77439"/>
            <a:ext cx="457200" cy="54864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874519"/>
            <a:ext cx="2560320" cy="109728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98424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4414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97F7"/>
                </a:solidFill>
                <a:latin typeface="Segoe UI"/>
              </a:rP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9747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8"/>
                </a:solidFill>
                <a:latin typeface="Segoe UI"/>
              </a:rPr>
              <a:t>Full SaaS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377439"/>
            <a:ext cx="457200" cy="54864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1874519"/>
            <a:ext cx="2560320" cy="109728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98424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414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Segoe UI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69747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8"/>
                </a:solidFill>
                <a:latin typeface="Segoe UI"/>
              </a:rPr>
              <a:t>Deploy &amp; grow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3566160" cy="3337560"/>
          </a:xfrm>
          <a:prstGeom prst="rect">
            <a:avLst/>
          </a:prstGeom>
          <a:solidFill>
            <a:srgbClr val="0D1B33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46120"/>
            <a:ext cx="3566160" cy="54864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3741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97F7"/>
                </a:solidFill>
                <a:latin typeface="Segoe UI"/>
              </a:rPr>
              <a:t>TARGET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21608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Companies conducting high-volume candidate screening who need to scale hiring without scaling HR teams.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8808" y="3246120"/>
            <a:ext cx="3566160" cy="333756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78808" y="324612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33741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Segoe UI"/>
              </a:rPr>
              <a:t>BUSINESS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721608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Subscription-based SaaS, tiered by interviews per month. Manual onboarding initially, then self-serve.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0416" y="3246120"/>
            <a:ext cx="3566160" cy="3337560"/>
          </a:xfrm>
          <a:prstGeom prst="rect">
            <a:avLst/>
          </a:prstGeom>
          <a:solidFill>
            <a:srgbClr val="0D1B33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0416" y="324612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7576" y="33741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Segoe UI"/>
              </a:rPr>
              <a:t>GO-TO-MARKET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3721608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Landing page → Lead capture → Manual outreach → Onboarding → Automated emails → Self-serve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457200"/>
            <a:ext cx="9445752" cy="5943600"/>
          </a:xfrm>
          <a:prstGeom prst="rect">
            <a:avLst/>
          </a:prstGeom>
          <a:solidFill>
            <a:srgbClr val="05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"/>
            <a:ext cx="10360152" cy="649224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-91440"/>
            <a:ext cx="11274552" cy="7040880"/>
          </a:xfrm>
          <a:prstGeom prst="rect">
            <a:avLst/>
          </a:prstGeom>
          <a:solidFill>
            <a:srgbClr val="09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0" y="384048"/>
            <a:ext cx="3200400" cy="329184"/>
          </a:xfrm>
          <a:prstGeom prst="rect">
            <a:avLst/>
          </a:prstGeom>
          <a:solidFill>
            <a:srgbClr val="0D2A48"/>
          </a:solidFill>
          <a:ln w="9525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3749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F97F7"/>
                </a:solidFill>
                <a:latin typeface="Segoe UI"/>
              </a:rPr>
              <a:t>Final Year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F97F7"/>
                </a:solidFill>
                <a:latin typeface="Segoe UI"/>
              </a:rPr>
              <a:t>Complete &amp;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84831"/>
            <a:ext cx="9445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egoe UI"/>
              </a:rPr>
              <a:t>IntelliHire is fully deployed and working — engineered to production standards, now running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569464"/>
            <a:ext cx="109728" cy="10972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251460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Fully functional FYP built end-to-end with real-world architecture — not a prototype or proof-of-concept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916936"/>
            <a:ext cx="109728" cy="10972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862072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Covers the complete hiring pipeline: job posting, CV screening, AI interviews, proctoring, scoring, HR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264408"/>
            <a:ext cx="109728" cy="10972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209544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Deep full-stack capability: React, Flask, AI/ML integration, WebRTC, DevOps, and live cloud deployment on Contabo VPS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3611880"/>
            <a:ext cx="109728" cy="109728"/>
          </a:xfrm>
          <a:prstGeom prst="rect">
            <a:avLst/>
          </a:prstGeom>
          <a:solidFill>
            <a:srgbClr val="2F9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3557016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Segoe UI"/>
              </a:rPr>
              <a:t>Now deployed and working at intellihire.com.pk with production infrastructure and domain routing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4069080"/>
            <a:ext cx="4297680" cy="457200"/>
          </a:xfrm>
          <a:prstGeom prst="rect">
            <a:avLst/>
          </a:prstGeom>
          <a:solidFill>
            <a:srgbClr val="081F38"/>
          </a:solidFill>
          <a:ln w="19050">
            <a:solidFill>
              <a:srgbClr val="2F9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405993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● Live Production FYP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663440"/>
            <a:ext cx="6309360" cy="1280160"/>
          </a:xfrm>
          <a:prstGeom prst="rect">
            <a:avLst/>
          </a:prstGeom>
          <a:solidFill>
            <a:srgbClr val="0D1B33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4663440"/>
            <a:ext cx="63093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471830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Segoe UI"/>
              </a:rPr>
              <a:t>Now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992624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Segoe UI"/>
              </a:rPr>
              <a:t>IntelliHire is deployed on Contabo Cloud VPS and accessible at intellihire.com.pk.
The next milestone is onboarding real companies and candidates while continuing production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914400"/>
            <a:ext cx="8531352" cy="50292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457200"/>
            <a:ext cx="9994392" cy="5943600"/>
          </a:xfrm>
          <a:prstGeom prst="rect">
            <a:avLst/>
          </a:prstGeom>
          <a:solidFill>
            <a:srgbClr val="06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1457432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365760" y="-457200"/>
            <a:ext cx="12920472" cy="7772400"/>
          </a:xfrm>
          <a:prstGeom prst="rect">
            <a:avLst/>
          </a:prstGeom>
          <a:solidFill>
            <a:srgbClr val="08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2F97F7"/>
                </a:solidFill>
                <a:latin typeface="Segoe UI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Segoe UI"/>
              </a:rPr>
              <a:t>We appreciate your time and welcome any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017520"/>
            <a:ext cx="5212080" cy="502920"/>
          </a:xfrm>
          <a:prstGeom prst="rect">
            <a:avLst/>
          </a:prstGeom>
          <a:solidFill>
            <a:srgbClr val="081F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008376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  <a:latin typeface="Segoe UI"/>
              </a:rPr>
              <a:t>🌐  intellihire.com.pk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657600"/>
            <a:ext cx="8531352" cy="1828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Segoe UI"/>
              </a:rPr>
              <a:t>IntelliHire — FAST NUCES Karachi — FYP 2025-2026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2452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0B8"/>
                </a:solidFill>
                <a:latin typeface="Segoe UI"/>
              </a:rPr>
              <a:t>Muhammad Omer Khan  ·  Muhib Siddiqui  ·  Syed Muhammad Salik Ahmed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0B8"/>
                </a:solidFill>
                <a:latin typeface="Segoe UI"/>
              </a:rPr>
              <a:t>Supervised by Miss Sobia Iftikhar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