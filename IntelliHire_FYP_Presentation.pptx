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900" y="-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448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 rot="600000">
            <a:off x="8229600" y="914400"/>
            <a:ext cx="914400" cy="914400"/>
          </a:xfrm>
          <a:prstGeom prst="rect">
            <a:avLst/>
          </a:prstGeom>
          <a:solidFill>
            <a:srgbClr val="2F97F7"/>
          </a:solidFill>
          <a:ln w="3810">
            <a:solidFill>
              <a:srgbClr val="2F97F7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600000">
            <a:off x="9326880" y="914400"/>
            <a:ext cx="914400" cy="914400"/>
          </a:xfrm>
          <a:prstGeom prst="rect">
            <a:avLst/>
          </a:prstGeom>
          <a:solidFill>
            <a:srgbClr val="2F97F7"/>
          </a:solidFill>
          <a:ln w="3810">
            <a:solidFill>
              <a:srgbClr val="2F97F7">
                <a:alpha val="1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600000">
            <a:off x="10424160" y="914400"/>
            <a:ext cx="914400" cy="914400"/>
          </a:xfrm>
          <a:prstGeom prst="rect">
            <a:avLst/>
          </a:prstGeom>
          <a:solidFill>
            <a:srgbClr val="2F97F7"/>
          </a:solidFill>
          <a:ln w="3810">
            <a:solidFill>
              <a:srgbClr val="2F97F7">
                <a:alpha val="1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600000">
            <a:off x="8229600" y="2011680"/>
            <a:ext cx="914400" cy="914400"/>
          </a:xfrm>
          <a:prstGeom prst="rect">
            <a:avLst/>
          </a:prstGeom>
          <a:solidFill>
            <a:srgbClr val="2F97F7"/>
          </a:solidFill>
          <a:ln w="3810">
            <a:solidFill>
              <a:srgbClr val="2F97F7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600000">
            <a:off x="9326880" y="2011680"/>
            <a:ext cx="914400" cy="914400"/>
          </a:xfrm>
          <a:prstGeom prst="rect">
            <a:avLst/>
          </a:prstGeom>
          <a:solidFill>
            <a:srgbClr val="2F97F7"/>
          </a:solidFill>
          <a:ln w="3810">
            <a:solidFill>
              <a:srgbClr val="2F97F7">
                <a:alpha val="1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600000">
            <a:off x="10424160" y="2011680"/>
            <a:ext cx="914400" cy="914400"/>
          </a:xfrm>
          <a:prstGeom prst="rect">
            <a:avLst/>
          </a:prstGeom>
          <a:solidFill>
            <a:srgbClr val="2F97F7"/>
          </a:solidFill>
          <a:ln w="3810">
            <a:solidFill>
              <a:srgbClr val="2F97F7">
                <a:alpha val="1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097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2F97F7"/>
                </a:solidFill>
              </a:rPr>
              <a:t>◆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48640" y="18288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548640" y="26060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DB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Dual-Purpose HR Support System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3657600" cy="2286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 TEAM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9330" y="392277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22K-4418  Muhammad Omer Khan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1605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22K-4428Muhammad Muhib Siddiqui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4348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22K-4403  Syed Muhammad Salik Ahmed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 DETAILS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0" y="3886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Supervisor: </a:t>
            </a:r>
            <a:r>
              <a:rPr lang="en-US" sz="11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Sobia Iftikhar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41605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Type: </a:t>
            </a:r>
            <a:r>
              <a:rPr lang="en-US" sz="11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Year Project (2025-2026)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4434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Date: </a:t>
            </a:r>
            <a:r>
              <a:rPr lang="en-US" sz="11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April 2026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943600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9436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FYP Graded Final Presentation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22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261872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170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OVERVIEW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PRESENTATION AGENDA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160020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600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15544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181051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Recruitment bottlenecks &amp; HR challenges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989320" y="146304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60020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00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15544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 Objectives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181051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set out to build and why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242316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242316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43000" y="23774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3000" y="263347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Full-stack AI-powered architecture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0" y="228600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242316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242316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23774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Module 1: AI Interview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263347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 interview bot deep-dive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310896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94360" y="324612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324612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43000" y="32004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Module 2: HR Chatbot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43000" y="345643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 RAG-based HR assistant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0" y="310896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26480" y="324612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0" y="324612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75120" y="32004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Analytics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75120" y="345643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engine &amp; report generation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3192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94360" y="406908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406908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143000" y="402336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143000" y="427939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IntelliHire in action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989320" y="3931920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26480" y="4069080"/>
            <a:ext cx="411480" cy="384048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0" y="406908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675120" y="402336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 Roadmap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675120" y="427939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FYP to production SaaS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066544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9751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INTELLIHIRE?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11155680" cy="1508760"/>
          </a:xfrm>
          <a:prstGeom prst="roundRect">
            <a:avLst>
              <a:gd name="adj" fmla="val 4848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1645920"/>
            <a:ext cx="502920" cy="502920"/>
          </a:xfrm>
          <a:prstGeom prst="ellipse">
            <a:avLst/>
          </a:prstGeom>
          <a:solidFill>
            <a:srgbClr val="2F97F7"/>
          </a:solidFill>
          <a:ln w="12700">
            <a:solidFill>
              <a:srgbClr val="2F97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Recruitment Bottlenecks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1993392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screening relies on manual, unstructured or semi-structured-based insights during initial screening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25880" y="2212848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shortlisting is time-consuming and leads to limited evaluation depth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25880" y="2432304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 spend 23+ days on average to fill a single position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325880" y="2651760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75% of resumes are never seen by human eyes due to volume overload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11155680" cy="1508760"/>
          </a:xfrm>
          <a:prstGeom prst="roundRect">
            <a:avLst>
              <a:gd name="adj" fmla="val 4848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337560"/>
            <a:ext cx="502920" cy="50292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7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25880" y="3337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HR Information Access Challenges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3685032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Employees frequently search for HR info like leave policies, benefits, and policy queries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25880" y="3904488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 teams spend 40%+ of their time answering repetitive questions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325880" y="4123944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centralized, intelligent access for personnel, centralised document retrieval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846320"/>
            <a:ext cx="11155680" cy="1508760"/>
          </a:xfrm>
          <a:prstGeom prst="roundRect">
            <a:avLst>
              <a:gd name="adj" fmla="val 4848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502920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029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25880" y="5029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System Gap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325880" y="5376672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Unified Solution: There is currently no integrated system that combines AI-powered candidate screening with an intelligent HR knowledge assistant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325880" y="5596128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ATS tools are expensive, rigid, and lack AI-driven evaluation capabilities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25880" y="5815584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solution offers real-time proctoring + adaptive questioning + sentiment analysis in one platform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22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865376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GOALS &amp; VISION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 OBJECTIVES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417320"/>
            <a:ext cx="45720" cy="141732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618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2588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AI-Driven Recruitment Automation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194767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 candidate screening using RAG-powered AI analysis of CVs and job descriptions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325880" y="2203704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Conduct intelligent, adaptive interviews with real-time follow-up questions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325880" y="245973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multi-modal evaluation: voice, video, face and gaze for holistic assessment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17520"/>
            <a:ext cx="45720" cy="14173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2186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32588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Intelligent HR Assistance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354787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an RAG chatbot utilizing RAG (Retrieval Augmented Generation) framework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325880" y="3803904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 secure document upload and vector-based semantic search for instant answers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325880" y="405993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HR response time and provide 24/7 policy access and document retrieval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6177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5EEAD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617720"/>
            <a:ext cx="45720" cy="1417320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8188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32588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Comprehensive Analytics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514807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detailed candidate reports with scoring metrics and comparative insights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325880" y="5404104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ATS scoring with 5-dimension CV analysis and automated ranking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325880" y="566013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9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data-driven feedback to streamline hiring by HR officials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871216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779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TECHNICAL IMPLEMENTATION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TECHNOLOGY STACK — BACKEND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&amp; DATABASE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920240"/>
            <a:ext cx="137160" cy="13716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17830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Flask 3.0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201168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REST API + WebSocket server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33172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2514600"/>
            <a:ext cx="137160" cy="137160"/>
          </a:xfrm>
          <a:prstGeom prst="ellipse">
            <a:avLst/>
          </a:prstGeom>
          <a:solidFill>
            <a:srgbClr val="4DB8F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377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MySQL 8.0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06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database with SQLAlchemy ORM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108960"/>
            <a:ext cx="137160" cy="13716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971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ChromaDB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32004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Vector database for RAG embeddings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703320"/>
            <a:ext cx="137160" cy="13716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5661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37947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 limiting &amp; caching layer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206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/ ML SERVICES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452628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709160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5720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YOLOv8n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4400" y="48006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object detection (mobile/person)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512064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5303520"/>
            <a:ext cx="137160" cy="1371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51663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MediaPipe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14400" y="53949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Face mesh &amp; gaze tracking (468 landmarks)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571500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" y="5897880"/>
            <a:ext cx="137160" cy="13716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39" name="Text 37"/>
          <p:cNvSpPr/>
          <p:nvPr/>
        </p:nvSpPr>
        <p:spPr>
          <a:xfrm>
            <a:off x="914400" y="57607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DeepSeek API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14400" y="59893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generation (4 parallel calls)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6309360"/>
            <a:ext cx="5303520" cy="530352"/>
          </a:xfrm>
          <a:prstGeom prst="roundRect">
            <a:avLst>
              <a:gd name="adj" fmla="val 13793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0080" y="6492240"/>
            <a:ext cx="137160" cy="13716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63550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Gemini AI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14400" y="658368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generation &amp; answer scoring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035040" y="1417320"/>
            <a:ext cx="5669280" cy="5029200"/>
          </a:xfrm>
          <a:prstGeom prst="roundRect">
            <a:avLst>
              <a:gd name="adj" fmla="val 1091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44184" y="1426464"/>
            <a:ext cx="5650992" cy="228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7" name="Shape 45"/>
          <p:cNvSpPr/>
          <p:nvPr/>
        </p:nvSpPr>
        <p:spPr>
          <a:xfrm>
            <a:off x="6172200" y="1490472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48" name="Shape 46"/>
          <p:cNvSpPr/>
          <p:nvPr/>
        </p:nvSpPr>
        <p:spPr>
          <a:xfrm>
            <a:off x="6355080" y="1490472"/>
            <a:ext cx="91440" cy="91440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49" name="Shape 47"/>
          <p:cNvSpPr/>
          <p:nvPr/>
        </p:nvSpPr>
        <p:spPr>
          <a:xfrm>
            <a:off x="6537960" y="1490472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50" name="Text 48"/>
          <p:cNvSpPr/>
          <p:nvPr/>
        </p:nvSpPr>
        <p:spPr>
          <a:xfrm>
            <a:off x="6766560" y="143560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interview_routes.py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172200" y="1691640"/>
            <a:ext cx="53949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Flask API — Interview Question Generation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@api.route('/api/interviews/&lt;int:id&gt;/questions', 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methods=['POST'])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@jwt_required()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def generate_questions(id):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interview = Interview.query.get_or_404(id)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job_desc = interview.job.description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cv_text  = extract_cv_text(interview.cv_path)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# RAG: Embed CV + JD → ChromaDB similarity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context = rag_service.get_relevant_context(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cv_text, job_desc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)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# Generate adaptive questions via Gemini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questions = gemini.generate(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prompt=build_prompt(context, job_desc),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scoring_weights=interview.job.weights,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constraints=interview.job.constraints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)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endParaRPr lang="en-US" sz="8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return jsonify(questions), 200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3374136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3282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INTERFACE IMPLEMENTATION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TECHNOLOGY STACK — FRONTEND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1581912"/>
            <a:ext cx="137160" cy="13716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1463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React 18 + TypeScript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167335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Component-based UI with type safety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1965960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130552"/>
            <a:ext cx="137160" cy="13716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201168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Material-UI (MUI)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222199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 component library with custom theming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679192"/>
            <a:ext cx="137160" cy="1371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560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WebRTC + Web Audio API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277063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media capture &amp; audio recording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227832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1089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 Speech API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331927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Browser-native STT for voice input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3776472"/>
            <a:ext cx="137160" cy="13716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36576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Axios + JWT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14400" y="386791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API communication with token auth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4160520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4325112"/>
            <a:ext cx="137160" cy="13716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42062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Context API + Hooks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4400" y="441655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Lightweight state management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035040" y="1417320"/>
            <a:ext cx="5669280" cy="5029200"/>
          </a:xfrm>
          <a:prstGeom prst="roundRect">
            <a:avLst>
              <a:gd name="adj" fmla="val 1091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4184" y="1426464"/>
            <a:ext cx="5650992" cy="228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7" name="Shape 35"/>
          <p:cNvSpPr/>
          <p:nvPr/>
        </p:nvSpPr>
        <p:spPr>
          <a:xfrm>
            <a:off x="6172200" y="1490472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8" name="Shape 36"/>
          <p:cNvSpPr/>
          <p:nvPr/>
        </p:nvSpPr>
        <p:spPr>
          <a:xfrm>
            <a:off x="6355080" y="1490472"/>
            <a:ext cx="91440" cy="91440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39" name="Shape 37"/>
          <p:cNvSpPr/>
          <p:nvPr/>
        </p:nvSpPr>
        <p:spPr>
          <a:xfrm>
            <a:off x="6537960" y="1490472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40" name="Text 38"/>
          <p:cNvSpPr/>
          <p:nvPr/>
        </p:nvSpPr>
        <p:spPr>
          <a:xfrm>
            <a:off x="6766560" y="143560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CandidateInterview.tsx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172200" y="1691640"/>
            <a:ext cx="53949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// CandidateInterview.tsx — Voice Interview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const CandidateInterview: React.FC = () =&gt; {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const { startRecording, transcript } = useSpeech();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const { videoRef, detections } = useProctoring();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const [questions, setQuestions] = useState&lt;IQ[]&gt;([]);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useEffect(() =&gt; {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Initialize camera + microphone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initMediaStreams(videoRef);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Start YOLO + MediaPipe monitoring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monitoringService.start(videoRef.current);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Load RAG-generated questions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fetchQuestions(interviewId).then(setQuestions);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}, []);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const handleAnswer = async (answer: string) =&gt; {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const score = await scoreAnswer(answer, currentQ);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if (score.relevance &lt; 85) {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// Generate dynamic follow-up via RAG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const followUp = await generateFollowUp(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answer, currentQ, cvContext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setQuestions(prev =&gt; [...prev, followUp]);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moveToNext();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};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return (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&lt;InterviewLayout&gt;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&lt;VideoMonitor ref={videoRef} alerts={detections} /&gt;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&lt;QuestionPanel question={currentQ} /&gt;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&lt;VoiceInput onTranscript={handleAnswer} /&gt;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&lt;ProgressBar current={idx} total={questions.length} /&gt;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&lt;/InterviewLayout&gt;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);</a:t>
            </a:r>
            <a:endParaRPr lang="en-US" sz="75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5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};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22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368296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 DESIGN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4320" y="14173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PRESENTATION LAYER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74320" y="1673352"/>
            <a:ext cx="1152144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6350">
            <a:solidFill>
              <a:srgbClr val="00D4FF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764792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76479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React 18 + TS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Component UI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70960" y="1764792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0960" y="1764792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WebRTC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Media Capture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827520" y="1764792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27520" y="1764792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 Speech API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STT / TTS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784080" y="1764792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0" y="1764792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Material-UI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System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74320" y="27432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APPLICATION LAYER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74320" y="2999232"/>
            <a:ext cx="1152144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6350">
            <a:solidFill>
              <a:srgbClr val="2F97F7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090672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090672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Flask REST API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Route Handlers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566160" y="3090672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66160" y="3090672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WebSocket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Events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492240" y="3090672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090672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JWT Auth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Role-Based Access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601200" y="3090672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0" y="3090672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APScheduler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 Jobs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74320" y="4069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/ ML LAYER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274320" y="4325112"/>
            <a:ext cx="1152144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6350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416552"/>
            <a:ext cx="164592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16552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Gemini AI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 Engine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834640" y="4416552"/>
            <a:ext cx="164592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4640" y="4416552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DeepSeek API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Gen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212080" y="4416552"/>
            <a:ext cx="164592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12080" y="4416552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YOLOv8n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Object Detection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89520" y="4416552"/>
            <a:ext cx="164592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89520" y="4416552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MediaPipe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 &amp; Gaze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9966960" y="4416552"/>
            <a:ext cx="164592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966960" y="4416552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ChromaDB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RAG Vectors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74320" y="5394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LAYER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74320" y="5650992"/>
            <a:ext cx="1152144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6350">
            <a:solidFill>
              <a:srgbClr val="34D399">
                <a:alpha val="4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5742432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574243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MySQL 8.0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Relational Data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505200" y="5742432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05200" y="574243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ChromaDB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Vector Store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553200" y="5742432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53200" y="574243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File Storage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CVs, Audio, Reports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601200" y="5742432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0D1F3C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601200" y="5742432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Redis</a:t>
            </a:r>
            <a:endParaRPr lang="en-US" sz="8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Cache &amp; Limits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760720" y="2103120"/>
            <a:ext cx="228600" cy="411480"/>
          </a:xfrm>
          <a:prstGeom prst="downArrow">
            <a:avLst/>
          </a:prstGeom>
          <a:solidFill>
            <a:srgbClr val="2F97F7"/>
          </a:solidFill>
          <a:ln/>
        </p:spPr>
      </p:sp>
      <p:sp>
        <p:nvSpPr>
          <p:cNvPr id="54" name="Shape 52"/>
          <p:cNvSpPr/>
          <p:nvPr/>
        </p:nvSpPr>
        <p:spPr>
          <a:xfrm>
            <a:off x="5760720" y="3429000"/>
            <a:ext cx="228600" cy="411480"/>
          </a:xfrm>
          <a:prstGeom prst="downArrow">
            <a:avLst/>
          </a:prstGeom>
          <a:solidFill>
            <a:srgbClr val="2F97F7"/>
          </a:solidFill>
          <a:ln/>
        </p:spPr>
      </p:sp>
      <p:sp>
        <p:nvSpPr>
          <p:cNvPr id="55" name="Shape 53"/>
          <p:cNvSpPr/>
          <p:nvPr/>
        </p:nvSpPr>
        <p:spPr>
          <a:xfrm>
            <a:off x="5760720" y="4754880"/>
            <a:ext cx="228600" cy="411480"/>
          </a:xfrm>
          <a:prstGeom prst="downArrow">
            <a:avLst/>
          </a:prstGeom>
          <a:solidFill>
            <a:srgbClr val="2F97F7"/>
          </a:solidFill>
          <a:ln/>
        </p:spPr>
      </p:sp>
      <p:sp>
        <p:nvSpPr>
          <p:cNvPr id="56" name="Text 54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770632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679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MODULE 1 — CORE FEATURE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INTERVIEW BOT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720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intelligent, adaptive interview system that conducts human-like interviews with real-time proctoring, sentiment analysis, and dynamic questioning powered by RAG.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920240"/>
            <a:ext cx="3520440" cy="32004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1031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4360" y="256032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RAG Question Generation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generated from CV + Job Description context using ChromaDB embeddings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5196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51960" y="1920240"/>
            <a:ext cx="3520440" cy="3200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21031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🎙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389120" y="256032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Interview (STT/TTS)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speech-based interviews with automatic transcription and audio playback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4672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0" y="1920240"/>
            <a:ext cx="3520440" cy="3200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4" name="Text 22"/>
          <p:cNvSpPr/>
          <p:nvPr/>
        </p:nvSpPr>
        <p:spPr>
          <a:xfrm>
            <a:off x="8183880" y="21031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183880" y="256032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Proctoring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8388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YOLOv8 + MediaPipe monitoring: face detection, gaze tracking, mobile detection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566160"/>
            <a:ext cx="3520440" cy="3200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3749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4360" y="42062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Dynamic Follow-Ups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4360" y="44805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generates contextual follow-up questions when candidate scores below threshold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196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A78BFA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251960" y="3566160"/>
            <a:ext cx="3520440" cy="3200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4" name="Text 32"/>
          <p:cNvSpPr/>
          <p:nvPr/>
        </p:nvSpPr>
        <p:spPr>
          <a:xfrm>
            <a:off x="4389120" y="3749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4389120" y="42062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Sentiment Analysis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0" y="44805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sentiment scoring from speech transcripts &amp; behavioral cues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04672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11D33"/>
          </a:solidFill>
          <a:ln w="6350">
            <a:solidFill>
              <a:srgbClr val="F472B6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46720" y="3566160"/>
            <a:ext cx="3520440" cy="32004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39" name="Text 37"/>
          <p:cNvSpPr/>
          <p:nvPr/>
        </p:nvSpPr>
        <p:spPr>
          <a:xfrm>
            <a:off x="8183880" y="3749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83880" y="42062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Multi-Dimensional Reports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83880" y="44805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parallel DeepSeek API calls produce comprehensive candidate evaluation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267712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176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 PIPELINE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 BOT — COMPLETE FLOW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274320" y="13716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371600"/>
            <a:ext cx="3474720" cy="32004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" y="1481328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148132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PHASE 1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97280" y="14447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SETUP &amp; CONFIGURATION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18105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Interviewer sets job description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202996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scoring weights defined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224942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Duration &amp; constraints configured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246888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Must-ask questions specified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11480" y="2688336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 link generated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023360" y="13716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023360" y="1371600"/>
            <a:ext cx="3474720" cy="3200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133088" y="1481328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00D4FF"/>
          </a:solidFill>
          <a:ln w="6350">
            <a:solidFill>
              <a:srgbClr val="00D4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33088" y="148132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PHASE 2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4846320" y="14447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CANDIDATE ONBOARDING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60520" y="18105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uploads CV (PDF/DOCX)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160520" y="202996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 text extracted + embedded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160520" y="224942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matches CV ↔ Job Description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60520" y="246888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Personalized questions generated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160520" y="2688336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Camera + mic permissions granted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772400" y="1371600"/>
            <a:ext cx="384048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0" y="1371600"/>
            <a:ext cx="3840480" cy="3200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3" name="Shape 31"/>
          <p:cNvSpPr/>
          <p:nvPr/>
        </p:nvSpPr>
        <p:spPr>
          <a:xfrm>
            <a:off x="7882128" y="1481328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82128" y="148132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PHASE 3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8595360" y="144475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INTERVIEW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909560" y="181051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delivered via TTS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909560" y="202996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responds via STT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909560" y="224942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monitoring: YOLO + gaze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909560" y="246888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Sentiment analysis on transcript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909560" y="268833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follow-ups if score &lt; 85%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274320" y="3794760"/>
            <a:ext cx="5120640" cy="3200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3" name="Shape 41"/>
          <p:cNvSpPr/>
          <p:nvPr/>
        </p:nvSpPr>
        <p:spPr>
          <a:xfrm>
            <a:off x="384048" y="3904488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390448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PHASE 4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097280" y="386791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EVALUATION ENGINE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11480" y="4233672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scores + sentiments + detections aggregated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11480" y="4453128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parallel DeepSeek API calls process data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11480" y="4672584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1: Interview + CV combined analysis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11480" y="4892040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2: Communication &amp; Cognitive scoring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11480" y="5111496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3: Behavioral expression analysis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11480" y="5330952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4: Deep CV profile analysis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669280" y="3794760"/>
            <a:ext cx="594360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A78BFA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669280" y="3794760"/>
            <a:ext cx="5943600" cy="3200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4" name="Shape 52"/>
          <p:cNvSpPr/>
          <p:nvPr/>
        </p:nvSpPr>
        <p:spPr>
          <a:xfrm>
            <a:off x="5779008" y="3904488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A78BFA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79008" y="390448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PHASE 5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6492240" y="386791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&amp; FEEDBACK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806440" y="4233672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candidate report generated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06440" y="4453128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Scores: Relevance, Technical, Communication, Confidence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6440" y="4672584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Cognitive insights + Red flags + Integrity signals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06440" y="4892040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sees improvement plans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5806440" y="5111496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job offerings recommended via IntelliHire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806440" y="5330952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 gets comparative analytics dashboard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749040" y="2148840"/>
            <a:ext cx="256032" cy="228600"/>
          </a:xfrm>
          <a:prstGeom prst="rightArrow">
            <a:avLst/>
          </a:prstGeom>
          <a:solidFill>
            <a:srgbClr val="2F9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7498080" y="2148840"/>
            <a:ext cx="256032" cy="228600"/>
          </a:xfrm>
          <a:prstGeom prst="rightArrow">
            <a:avLst/>
          </a:prstGeom>
          <a:solidFill>
            <a:srgbClr val="00D4FF"/>
          </a:solidFill>
          <a:ln/>
        </p:spPr>
      </p:sp>
      <p:sp>
        <p:nvSpPr>
          <p:cNvPr id="65" name="Shape 63"/>
          <p:cNvSpPr/>
          <p:nvPr/>
        </p:nvSpPr>
        <p:spPr>
          <a:xfrm>
            <a:off x="1828800" y="3337560"/>
            <a:ext cx="228600" cy="365760"/>
          </a:xfrm>
          <a:prstGeom prst="downArrow">
            <a:avLst/>
          </a:prstGeom>
          <a:solidFill>
            <a:srgbClr val="FBBF24"/>
          </a:solidFill>
          <a:ln/>
        </p:spPr>
      </p:sp>
      <p:sp>
        <p:nvSpPr>
          <p:cNvPr id="66" name="Shape 64"/>
          <p:cNvSpPr/>
          <p:nvPr/>
        </p:nvSpPr>
        <p:spPr>
          <a:xfrm>
            <a:off x="8229600" y="3337560"/>
            <a:ext cx="228600" cy="365760"/>
          </a:xfrm>
          <a:prstGeom prst="downArrow">
            <a:avLst/>
          </a:prstGeom>
          <a:solidFill>
            <a:srgbClr val="FBBF24"/>
          </a:solidFill>
          <a:ln/>
        </p:spPr>
      </p:sp>
      <p:sp>
        <p:nvSpPr>
          <p:cNvPr id="67" name="Shape 65"/>
          <p:cNvSpPr/>
          <p:nvPr/>
        </p:nvSpPr>
        <p:spPr>
          <a:xfrm>
            <a:off x="5394960" y="4572000"/>
            <a:ext cx="256032" cy="228600"/>
          </a:xfrm>
          <a:prstGeom prst="rightArrow">
            <a:avLst/>
          </a:prstGeom>
          <a:solidFill>
            <a:srgbClr val="34D399"/>
          </a:solidFill>
          <a:ln/>
        </p:spPr>
      </p:sp>
      <p:sp>
        <p:nvSpPr>
          <p:cNvPr id="68" name="Text 66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670048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578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AI — RAG PIPELINE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RAG-POWERED QUESTION GENERATION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Retrieval-Augmented Generation ensures every question is contextually relevant to the candidate's CV and the job requirements.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7830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12700">
            <a:solidFill>
              <a:srgbClr val="2F97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8562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219456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CV Upload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(PDF/DOCX)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645920" y="201168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938528" y="17830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12700">
            <a:solidFill>
              <a:srgbClr val="4DB8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38528" y="18562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38528" y="219456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Text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Extraction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218688" y="201168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DB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511296" y="17830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18562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511296" y="219456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Semantic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Chunking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91456" y="201168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084064" y="17830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18562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🧮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84064" y="219456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Vector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Embedding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364224" y="201168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656832" y="17830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18562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56832" y="219456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ChromaDB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Storage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936992" y="201168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229600" y="17830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0" y="18562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229600" y="219456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Similarity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Search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509760" y="201168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802368" y="17830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111D33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02368" y="18562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802368" y="219456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Question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Generation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65760" y="2971800"/>
            <a:ext cx="5486400" cy="3383280"/>
          </a:xfrm>
          <a:prstGeom prst="roundRect">
            <a:avLst>
              <a:gd name="adj" fmla="val 2162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48640" y="3063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 RAG PIPELINE WORKS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3429000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4290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4400" y="3429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 text extracted using PyPDF2 / python-docx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3776472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37764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14400" y="3776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 split into semantic chunks (500 chars, 50-char overlap)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48640" y="4123944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41239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14400" y="412394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Chunks embedded using Sentence Transformers (all-MiniLM-L6-v2)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471416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1" name="Text 49"/>
          <p:cNvSpPr/>
          <p:nvPr/>
        </p:nvSpPr>
        <p:spPr>
          <a:xfrm>
            <a:off x="548640" y="44714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14400" y="447141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Embeddings stored in ChromaDB vector database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818888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81888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14400" y="481888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description also embedded for cross-matching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48640" y="5166360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7" name="Text 55"/>
          <p:cNvSpPr/>
          <p:nvPr/>
        </p:nvSpPr>
        <p:spPr>
          <a:xfrm>
            <a:off x="548640" y="5166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914400" y="5166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Top-k similarity search retrieves relevant CV sections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48640" y="5513832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5513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914400" y="551383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Retrieved context + JD sent to Gemini AI for question generation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48640" y="5861304"/>
            <a:ext cx="256032" cy="256032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63" name="Text 61"/>
          <p:cNvSpPr/>
          <p:nvPr/>
        </p:nvSpPr>
        <p:spPr>
          <a:xfrm>
            <a:off x="548640" y="58613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14400" y="58613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personalized with scoring weights &amp; interviewer constraints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126480" y="2971800"/>
            <a:ext cx="5486400" cy="3383280"/>
          </a:xfrm>
          <a:prstGeom prst="roundRect">
            <a:avLst>
              <a:gd name="adj" fmla="val 1622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135624" y="2980944"/>
            <a:ext cx="5468112" cy="228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67" name="Shape 65"/>
          <p:cNvSpPr/>
          <p:nvPr/>
        </p:nvSpPr>
        <p:spPr>
          <a:xfrm>
            <a:off x="6263640" y="3044952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8" name="Shape 66"/>
          <p:cNvSpPr/>
          <p:nvPr/>
        </p:nvSpPr>
        <p:spPr>
          <a:xfrm>
            <a:off x="6446520" y="3044952"/>
            <a:ext cx="91440" cy="91440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69" name="Shape 67"/>
          <p:cNvSpPr/>
          <p:nvPr/>
        </p:nvSpPr>
        <p:spPr>
          <a:xfrm>
            <a:off x="6629400" y="3044952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70" name="Text 68"/>
          <p:cNvSpPr/>
          <p:nvPr/>
        </p:nvSpPr>
        <p:spPr>
          <a:xfrm>
            <a:off x="6858000" y="299008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followup_generation.py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263640" y="3246120"/>
            <a:ext cx="52120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Dynamic Follow-Up Question Generation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async def generate_followup(answer, question, cv_ctx):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"""Generate contextual follow-up if score &lt; 85%"""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# Score the candidate's answer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score = await gemini.score_answer(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answer=answer,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question=question,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job_context=job_description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)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if score['relevance'] &lt; 85: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# Retrieve relevant CV context via RAG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cv_sections = chromadb.similarity_search(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query=answer,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collection="cv_embeddings",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top_k=3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)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# Generate targeted follow-up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followup = await gpt5_mini.generate(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prompt=f"""Based on the candidate's answer: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"{answer}"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And their CV context: {cv_sections}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Generate a probing follow-up question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that tests depth of knowledge."""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)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return {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"question": followup,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"is_followup": True,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"parent_id": question.id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}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22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468880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ANTI-CHEATING MODULE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PROCTORING SYSTEM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371600"/>
            <a:ext cx="3520440" cy="3200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5087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19202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YOLOv8n Object Detection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Detects mobile phones in frame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4360" y="2532888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Identifies multiple persons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" y="2779776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6MB ultra-light model (YOLOv8n)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4360" y="3026664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every 2 second intervals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" y="3273552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bounding box visualization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206240" y="137160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06240" y="1371600"/>
            <a:ext cx="3520440" cy="3200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5087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👁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343400" y="19202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MediaPipe Gaze Tracking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43400" y="2286000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468 facial landmarks tracked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343400" y="2532888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Eye iris position monitoring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343400" y="2779776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Gaze direction classification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343400" y="3026664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Off-screen gaze counting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343400" y="3273552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Flagged if &gt; 5 gaze violations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955280" y="137160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111D33"/>
          </a:solidFill>
          <a:ln w="6350">
            <a:solidFill>
              <a:srgbClr val="F87171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55280" y="1371600"/>
            <a:ext cx="3520440" cy="320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1" name="Text 29"/>
          <p:cNvSpPr/>
          <p:nvPr/>
        </p:nvSpPr>
        <p:spPr>
          <a:xfrm>
            <a:off x="8092440" y="15087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092440" y="19202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Behavioral Monitoring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92440" y="2286000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switching detection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092440" y="2532888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Face absence detection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092440" y="2779776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face detection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092440" y="3026664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warning system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092440" y="3273552"/>
            <a:ext cx="32461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violations logged with timestamp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4023360"/>
            <a:ext cx="11155680" cy="2286000"/>
          </a:xfrm>
          <a:prstGeom prst="roundRect">
            <a:avLst>
              <a:gd name="adj" fmla="val 3200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40080" y="4114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MONITORING PIPELINE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4480560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0D1F3C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48056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Camera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Frame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874520" y="4663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97F7"/>
                </a:solidFill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194560" y="4480560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0D1F3C"/>
          </a:solidFill>
          <a:ln w="9525">
            <a:solidFill>
              <a:srgbClr val="4DB8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94560" y="448056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Base64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Encode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429000" y="4663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DB8FF"/>
                </a:solidFill>
              </a:rPr>
              <a:t>→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749040" y="4480560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0D1F3C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749040" y="448056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YOLO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Detection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983480" y="4663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BF24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303520" y="4480560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0D1F3C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0" y="448056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MediaPipe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 Mesh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537960" y="4663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</a:rPr>
              <a:t>→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858000" y="4480560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0D1F3C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0" y="448056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Gaze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Classify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092440" y="4663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4D399"/>
                </a:solidFill>
              </a:rPr>
              <a:t>→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412480" y="4480560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0D1F3C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12480" y="448056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Warning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Engine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9646920" y="4663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7171"/>
                </a:solidFill>
              </a:rPr>
              <a:t>→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966960" y="4480560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0D1F3C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966960" y="448056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Score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Calculation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40080" y="5440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BA3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LEVELS: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1828800" y="544068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28800" y="54406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 (0–0.3)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840480" y="544068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40480" y="54406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MEDIUM (0.3–0.6)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852160" y="544068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852160" y="54406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871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HIGH (0.6–1.0)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764792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673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EVALUATION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CANDIDATE REPORT GENERATION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parallel DeepSeek API calls produce a comprehensive multi-dimensional evaluation report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691640"/>
            <a:ext cx="2651760" cy="32004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1801368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CALL 1: Interview + CV Analysis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6928" y="219456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Fit Score (0-10)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2487168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Dynamic Rubric Dimensions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27797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 &amp; Gaps Identification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66928" y="3072384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Actionable Recommendations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291840" y="16916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91840" y="1691640"/>
            <a:ext cx="2651760" cy="3200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9"/>
          <p:cNvSpPr/>
          <p:nvPr/>
        </p:nvSpPr>
        <p:spPr>
          <a:xfrm>
            <a:off x="3401568" y="1801368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CALL 2: Communication &amp; Cognitive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01568" y="219456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Grammar, Fluency, Comprehension (0-5)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401568" y="2487168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Vocabulary &amp; Coherence Scoring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01568" y="27797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Logical Reasoning &amp; Critical Thinking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401568" y="3072384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Solving &amp; Decision Making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126480" y="16916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1691640"/>
            <a:ext cx="2651760" cy="3200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8" name="Text 26"/>
          <p:cNvSpPr/>
          <p:nvPr/>
        </p:nvSpPr>
        <p:spPr>
          <a:xfrm>
            <a:off x="6236208" y="1801368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CALL 3: Behavioral Analysis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236208" y="219456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General Expression Classification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36208" y="2487168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Eye Contact Frequency Analysis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36208" y="27797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Level Assessment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36208" y="3072384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Emotional Stability Indicators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961120" y="16916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0" y="1691640"/>
            <a:ext cx="2651760" cy="3200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5" name="Text 33"/>
          <p:cNvSpPr/>
          <p:nvPr/>
        </p:nvSpPr>
        <p:spPr>
          <a:xfrm>
            <a:off x="9070848" y="1801368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CALL 4: Deep CV Profile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070848" y="219456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Focus &amp; Learning Velocity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9070848" y="2487168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Progression Analysis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070848" y="27797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&amp; Entrepreneurial Spirit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9070848" y="3072384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Professionalism Score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3840480"/>
            <a:ext cx="11155680" cy="2377440"/>
          </a:xfrm>
          <a:prstGeom prst="roundRect">
            <a:avLst>
              <a:gd name="adj" fmla="val 3077"/>
            </a:avLst>
          </a:prstGeom>
          <a:solidFill>
            <a:srgbClr val="111D33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4008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ADDITIONAL REPORT COMPONENTS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" y="4251960"/>
            <a:ext cx="10789920" cy="1371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43434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Per-Question Analysis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080" y="464515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Relevance Score (0-100)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40080" y="490118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Score (0-100)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40080" y="515721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Communication Score (0-100)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40080" y="54132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(0-100)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40080" y="56692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flag tracking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429000" y="43434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71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Integrity Signals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429000" y="464515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faces detected count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429000" y="490118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Face out of view count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3429000" y="515721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Gaze off-screen frequency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429000" y="54132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Score (0-1)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3429000" y="56692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Level: low/medium/high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217920" y="43434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Analytics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17920" y="464515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Speaking Pace (WPM)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217920" y="490118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Clarity Score (0-100)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217920" y="515721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(0-100)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217920" y="54132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Filler Word Detection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217920" y="56692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Communication Summary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9006840" y="43434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 Flags &amp; Insights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9006840" y="464515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Timeline &amp; tenure issues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006840" y="490118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 vs interview misalignment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006840" y="515721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potential estimate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9006840" y="54132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potential score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006840" y="56692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model classification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770632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679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MODULE 2 — HR ASSISTANT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INTELLIGENT HR CHATBOT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RAG-based document Q&amp;A system that gives HR teams and employees instant access to company policies, procedures, and knowledge.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83080"/>
            <a:ext cx="566928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783080"/>
            <a:ext cx="36576" cy="73152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874520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" y="185623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 Management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21305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PDF, DOCX, TXT → auto-extract → semantic chunking → vector storage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624328"/>
            <a:ext cx="566928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624328"/>
            <a:ext cx="36576" cy="7315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71576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3000" y="26974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RAG Retrieval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2971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Sentence Transformers (all-MiniLM-L6-v2) → ChromaDB similarity search → context injection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3465576"/>
            <a:ext cx="566928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465576"/>
            <a:ext cx="36576" cy="7315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557016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43000" y="353872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Response Generation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43000" y="38130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Retrieved context + query → Gemini AI → cited, accurate answers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4306824"/>
            <a:ext cx="566928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4306824"/>
            <a:ext cx="36576" cy="7315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98264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43000" y="437997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Multi-Turn Conversations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3000" y="465429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Session-based history tracking with intent classification and context awareness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5148072"/>
            <a:ext cx="566928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A78BFA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" y="5148072"/>
            <a:ext cx="36576" cy="7315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523951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143000" y="52212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Role-Based Access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43000" y="549554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Admin/HR can upload documents — all employees can query the knowledge base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400800" y="178308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0D1117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9944" y="1792224"/>
            <a:ext cx="5193792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HR Assistant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772400" y="2286000"/>
            <a:ext cx="3703320" cy="365760"/>
          </a:xfrm>
          <a:prstGeom prst="roundRect">
            <a:avLst>
              <a:gd name="adj" fmla="val 15000"/>
            </a:avLst>
          </a:prstGeom>
          <a:solidFill>
            <a:srgbClr val="1A6BC4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0" y="2313432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the company's leave policy for new employees?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537960" y="2743200"/>
            <a:ext cx="4937760" cy="1307592"/>
          </a:xfrm>
          <a:prstGeom prst="roundRect">
            <a:avLst>
              <a:gd name="adj" fmla="val 4196"/>
            </a:avLst>
          </a:prstGeom>
          <a:solidFill>
            <a:srgbClr val="1A2332"/>
          </a:solidFill>
          <a:ln/>
        </p:spPr>
      </p:sp>
      <p:sp>
        <p:nvSpPr>
          <p:cNvPr id="43" name="Text 41"/>
          <p:cNvSpPr/>
          <p:nvPr/>
        </p:nvSpPr>
        <p:spPr>
          <a:xfrm>
            <a:off x="6629400" y="2770632"/>
            <a:ext cx="4754880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Based on the Employee Handbook (Section 4.2):</a:t>
            </a: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employees receive 15 annual leave days</a:t>
            </a: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Sick leave: 10 days per year</a:t>
            </a: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Leave accrues from the first month</a:t>
            </a: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Unused leave can carry forward up to 5 days</a:t>
            </a: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📄 Source: Employee_Handbook_2025.pdf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72400" y="4142232"/>
            <a:ext cx="3703320" cy="365760"/>
          </a:xfrm>
          <a:prstGeom prst="roundRect">
            <a:avLst>
              <a:gd name="adj" fmla="val 15000"/>
            </a:avLst>
          </a:prstGeom>
          <a:solidFill>
            <a:srgbClr val="1A6BC4"/>
          </a:solidFill>
          <a:ln/>
        </p:spPr>
      </p:sp>
      <p:sp>
        <p:nvSpPr>
          <p:cNvPr id="45" name="Text 43"/>
          <p:cNvSpPr/>
          <p:nvPr/>
        </p:nvSpPr>
        <p:spPr>
          <a:xfrm>
            <a:off x="7863840" y="416966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I carry forward more than 5 days?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537960" y="4599432"/>
            <a:ext cx="4937760" cy="576072"/>
          </a:xfrm>
          <a:prstGeom prst="roundRect">
            <a:avLst>
              <a:gd name="adj" fmla="val 9524"/>
            </a:avLst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629400" y="4626864"/>
            <a:ext cx="4754880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No, according to the policy (Section 4.2.3), the maximum carry-forward is 5 days. Any excess unused leave expires at year-end.</a:t>
            </a: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endParaRPr lang="en-US" sz="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📄 Source: Leave_Policy_Addendum.pdf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468880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RECRUITMENT PIPELINE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ATS SCORING &amp; CANDIDATE PIPELINE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1234440" cy="822960"/>
          </a:xfrm>
          <a:prstGeom prst="roundRect">
            <a:avLst>
              <a:gd name="adj" fmla="val 6667"/>
            </a:avLst>
          </a:prstGeom>
          <a:solidFill>
            <a:srgbClr val="111D33"/>
          </a:solidFill>
          <a:ln w="12700">
            <a:solidFill>
              <a:srgbClr val="2F97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417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" y="175564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Job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Published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691640" y="157276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97F7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011680" y="1371600"/>
            <a:ext cx="1234440" cy="822960"/>
          </a:xfrm>
          <a:prstGeom prst="roundRect">
            <a:avLst>
              <a:gd name="adj" fmla="val 6667"/>
            </a:avLst>
          </a:prstGeom>
          <a:solidFill>
            <a:srgbClr val="111D33"/>
          </a:solidFill>
          <a:ln w="12700">
            <a:solidFill>
              <a:srgbClr val="4DB8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1417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011680" y="175564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Candidates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246120" y="157276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DB8FF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566160" y="1371600"/>
            <a:ext cx="1234440" cy="822960"/>
          </a:xfrm>
          <a:prstGeom prst="roundRect">
            <a:avLst>
              <a:gd name="adj" fmla="val 6667"/>
            </a:avLst>
          </a:prstGeom>
          <a:solidFill>
            <a:srgbClr val="111D33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417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📊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566160" y="175564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CV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Scoring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800600" y="157276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120640" y="1371600"/>
            <a:ext cx="1234440" cy="822960"/>
          </a:xfrm>
          <a:prstGeom prst="roundRect">
            <a:avLst>
              <a:gd name="adj" fmla="val 6667"/>
            </a:avLst>
          </a:prstGeom>
          <a:solidFill>
            <a:srgbClr val="111D33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1417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120640" y="175564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Shortlist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355080" y="157276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4D399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5120" y="1371600"/>
            <a:ext cx="1234440" cy="822960"/>
          </a:xfrm>
          <a:prstGeom prst="roundRect">
            <a:avLst>
              <a:gd name="adj" fmla="val 6667"/>
            </a:avLst>
          </a:prstGeom>
          <a:solidFill>
            <a:srgbClr val="111D33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1417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📅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675120" y="175564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909560" y="157276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BF24"/>
                </a:solidFill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229600" y="1371600"/>
            <a:ext cx="1234440" cy="822960"/>
          </a:xfrm>
          <a:prstGeom prst="roundRect">
            <a:avLst>
              <a:gd name="adj" fmla="val 6667"/>
            </a:avLst>
          </a:prstGeom>
          <a:solidFill>
            <a:srgbClr val="111D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1417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229600" y="175564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9464040" y="157276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78BFA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784080" y="1371600"/>
            <a:ext cx="1234440" cy="822960"/>
          </a:xfrm>
          <a:prstGeom prst="roundRect">
            <a:avLst>
              <a:gd name="adj" fmla="val 6667"/>
            </a:avLst>
          </a:prstGeom>
          <a:solidFill>
            <a:srgbClr val="111D33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84080" y="1417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📑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784080" y="175564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</a:t>
            </a:r>
            <a:endParaRPr lang="en-US" sz="7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Generated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7200" y="2423160"/>
            <a:ext cx="5486400" cy="3108960"/>
          </a:xfrm>
          <a:prstGeom prst="roundRect">
            <a:avLst>
              <a:gd name="adj" fmla="val 2353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4008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CV SCORING DIMENSIONS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3108960"/>
            <a:ext cx="4114800" cy="109728"/>
          </a:xfrm>
          <a:prstGeom prst="roundRect">
            <a:avLst>
              <a:gd name="adj" fmla="val 50000"/>
            </a:avLst>
          </a:prstGeom>
          <a:solidFill>
            <a:srgbClr val="0D1F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40080" y="3108960"/>
            <a:ext cx="3950208" cy="109728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292608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Skills Match</a:t>
            </a:r>
            <a:r>
              <a:rPr lang="en-US" sz="9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30%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080" y="32278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skills alignment with job requirements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40080" y="3611880"/>
            <a:ext cx="4114800" cy="109728"/>
          </a:xfrm>
          <a:prstGeom prst="roundRect">
            <a:avLst>
              <a:gd name="adj" fmla="val 50000"/>
            </a:avLst>
          </a:prstGeom>
          <a:solidFill>
            <a:srgbClr val="0D1F3C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3611880"/>
            <a:ext cx="3291840" cy="109728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/>
        </p:spPr>
      </p:sp>
      <p:sp>
        <p:nvSpPr>
          <p:cNvPr id="46" name="Text 44"/>
          <p:cNvSpPr/>
          <p:nvPr/>
        </p:nvSpPr>
        <p:spPr>
          <a:xfrm>
            <a:off x="640080" y="342900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Experience Relevance</a:t>
            </a: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25%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373075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history relevance and depth analysis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40080" y="4114800"/>
            <a:ext cx="4114800" cy="109728"/>
          </a:xfrm>
          <a:prstGeom prst="roundRect">
            <a:avLst>
              <a:gd name="adj" fmla="val 50000"/>
            </a:avLst>
          </a:prstGeom>
          <a:solidFill>
            <a:srgbClr val="0D1F3C"/>
          </a:solidFill>
          <a:ln/>
        </p:spPr>
      </p:sp>
      <p:sp>
        <p:nvSpPr>
          <p:cNvPr id="49" name="Shape 47"/>
          <p:cNvSpPr/>
          <p:nvPr/>
        </p:nvSpPr>
        <p:spPr>
          <a:xfrm>
            <a:off x="640080" y="4114800"/>
            <a:ext cx="2633472" cy="10972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" y="39319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Education Fit</a:t>
            </a:r>
            <a:r>
              <a:rPr lang="en-US" sz="9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20%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0080" y="423367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Academic background and certifications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640080" y="4617720"/>
            <a:ext cx="4114800" cy="109728"/>
          </a:xfrm>
          <a:prstGeom prst="roundRect">
            <a:avLst>
              <a:gd name="adj" fmla="val 50000"/>
            </a:avLst>
          </a:prstGeom>
          <a:solidFill>
            <a:srgbClr val="0D1F3C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" y="4617720"/>
            <a:ext cx="1975104" cy="10972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443484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 Alignment</a:t>
            </a:r>
            <a:r>
              <a:rPr lang="en-US" sz="9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15%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0080" y="473659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trajectory and position suitability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640080" y="5120640"/>
            <a:ext cx="4114800" cy="109728"/>
          </a:xfrm>
          <a:prstGeom prst="roundRect">
            <a:avLst>
              <a:gd name="adj" fmla="val 50000"/>
            </a:avLst>
          </a:prstGeom>
          <a:solidFill>
            <a:srgbClr val="0D1F3C"/>
          </a:solidFill>
          <a:ln/>
        </p:spPr>
      </p:sp>
      <p:sp>
        <p:nvSpPr>
          <p:cNvPr id="57" name="Shape 55"/>
          <p:cNvSpPr/>
          <p:nvPr/>
        </p:nvSpPr>
        <p:spPr>
          <a:xfrm>
            <a:off x="640080" y="5120640"/>
            <a:ext cx="1316736" cy="1097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9377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Overall Impression</a:t>
            </a:r>
            <a:r>
              <a:rPr lang="en-US" sz="9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10%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40080" y="523951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 quality, presentation, and completeness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6217920" y="242316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40080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APPLICATION STATUS FLOW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400800" y="2898648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8BA3C7"/>
          </a:solidFill>
          <a:ln w="6350">
            <a:solidFill>
              <a:srgbClr val="8BA3C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0" y="28986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8BA3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Applied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7635240" y="28803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submits application + CV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766560" y="3081528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7A9E"/>
                </a:solidFill>
              </a:rPr>
              <a:t>↓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400800" y="3246120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00800" y="32461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Scoring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7635240" y="32278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DeepSeek AI scores CV across 5 dimensions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6766560" y="3429000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7A9E"/>
                </a:solidFill>
              </a:rPr>
              <a:t>↓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400800" y="3593592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4DB8FF"/>
          </a:solidFill>
          <a:ln w="6350">
            <a:solidFill>
              <a:srgbClr val="4DB8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00800" y="359359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DB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Scored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635240" y="357530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 score calculated and ranked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766560" y="37764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7A9E"/>
                </a:solidFill>
              </a:rPr>
              <a:t>↓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400800" y="3941064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0" y="394106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Shortlisted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7635240" y="39227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N candidates automatically selected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6766560" y="412394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7A9E"/>
                </a:solidFill>
              </a:rPr>
              <a:t>↓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6400800" y="4288536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400800" y="428853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871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Rejected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7635240" y="42702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Below threshold — automated rejection email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766560" y="4471416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7A9E"/>
                </a:solidFill>
              </a:rPr>
              <a:t>↓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6400800" y="4636008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00800" y="463600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7635240" y="46177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 slot booked via scheduling system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6766560" y="4818888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7A9E"/>
                </a:solidFill>
              </a:rPr>
              <a:t>↓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400800" y="4983480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400800" y="49834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Interviewed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7635240" y="496519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interview completed, report generated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22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865376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 STATUS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WE STAND TODAY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14904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" y="18562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Models Integrated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926080" y="1417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926080" y="14904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35+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926080" y="18562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Endpoints Built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394960" y="1417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94960" y="14904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94960" y="18562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Dimensions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63840" y="1417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863840" y="14904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50+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863840" y="18562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Scoring Parameters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332720" y="14173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5EEAD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332720" y="1490472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332720" y="185623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Complete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514600"/>
            <a:ext cx="5486400" cy="3749040"/>
          </a:xfrm>
          <a:prstGeom prst="roundRect">
            <a:avLst>
              <a:gd name="adj" fmla="val 1951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 COMPLETED MODULES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29718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Interview Bot with STT/TTS voice interviews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40080" y="3209544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RAG-powered question generation (CV + Job Description)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0080" y="344728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follow-up question system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40080" y="368503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proctoring (YOLO + MediaPipe + gaze + tab switching)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40080" y="3922776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candidate report (4 parallel DeepSeek calls)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0080" y="41605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 Chatbot with document RAG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40080" y="4398264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ATS CV Scoring &amp; automated pipeline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40080" y="463600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publishing with share links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40080" y="487375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portal with registration &amp; booking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40080" y="5111496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 with analytics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" y="5349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Role-based authentication (JWT)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40080" y="5586984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analysis &amp; sentiment scoring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40080" y="582472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</a:t>
            </a:r>
            <a:r>
              <a:rPr lang="en-US" sz="8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email system (scheduling, reminders, results)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17920" y="251460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0080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 KEY TECHNICAL ACHIEVEMENTS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00800" y="2971800"/>
            <a:ext cx="36576" cy="41148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44" name="Text 42"/>
          <p:cNvSpPr/>
          <p:nvPr/>
        </p:nvSpPr>
        <p:spPr>
          <a:xfrm>
            <a:off x="6583680" y="297180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Multi-Modal AI Evaluation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3172968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+ Video + Text analyzed simultaneously for holistic scoring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400800" y="3502152"/>
            <a:ext cx="36576" cy="41148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47" name="Text 45"/>
          <p:cNvSpPr/>
          <p:nvPr/>
        </p:nvSpPr>
        <p:spPr>
          <a:xfrm>
            <a:off x="6583680" y="350215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Adaptive Interviews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83680" y="370332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adjusts questions based on candidate performance in real-time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0800" y="4032504"/>
            <a:ext cx="36576" cy="411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0" name="Text 48"/>
          <p:cNvSpPr/>
          <p:nvPr/>
        </p:nvSpPr>
        <p:spPr>
          <a:xfrm>
            <a:off x="6583680" y="403250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Parallel API Architecture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583680" y="4233672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generation completes in seconds with concurrent processing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400800" y="4562856"/>
            <a:ext cx="36576" cy="4114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53" name="Text 51"/>
          <p:cNvSpPr/>
          <p:nvPr/>
        </p:nvSpPr>
        <p:spPr>
          <a:xfrm>
            <a:off x="6583680" y="456285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468-Point Face Tracking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583680" y="4764024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MediaPipe face mesh provides precise gaze and expression analysis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400800" y="5093208"/>
            <a:ext cx="36576" cy="4114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6" name="Text 54"/>
          <p:cNvSpPr/>
          <p:nvPr/>
        </p:nvSpPr>
        <p:spPr>
          <a:xfrm>
            <a:off x="6583680" y="509320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Full-Stack Type Safety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83680" y="5294376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TypeScript + Python type hints ensure reliability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400800" y="5623560"/>
            <a:ext cx="36576" cy="41148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59" name="Text 57"/>
          <p:cNvSpPr/>
          <p:nvPr/>
        </p:nvSpPr>
        <p:spPr>
          <a:xfrm>
            <a:off x="6583680" y="562356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Automated Recruitment Pipeline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583680" y="5824728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CV upload to report generation — zero manual intervention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22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 ROADMAP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FYP TO PRODUCTION SAAS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IntelliHire is not just a working prototype — it's a fully architected product ready for commercial deployment.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10515600" cy="2743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80160" y="1938528"/>
            <a:ext cx="274320" cy="274320"/>
          </a:xfrm>
          <a:prstGeom prst="ellipse">
            <a:avLst/>
          </a:prstGeom>
          <a:solidFill>
            <a:srgbClr val="5A7A9E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15544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7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22860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identified</a:t>
            </a:r>
            <a:endParaRPr lang="en-US" sz="7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 &amp; planning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566160" y="1938528"/>
            <a:ext cx="274320" cy="274320"/>
          </a:xfrm>
          <a:prstGeom prst="ellipse">
            <a:avLst/>
          </a:prstGeom>
          <a:solidFill>
            <a:srgbClr val="2F97F7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0" y="15544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FYP BUILD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017520" y="22860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features developed</a:t>
            </a:r>
            <a:endParaRPr lang="en-US" sz="7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integration complete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852160" y="1938528"/>
            <a:ext cx="274320" cy="27432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15544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 DESIGN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303520" y="22860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SaaS architecture planned</a:t>
            </a:r>
            <a:endParaRPr lang="en-US" sz="7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6-layer platform designed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8138160" y="1938528"/>
            <a:ext cx="274320" cy="274320"/>
          </a:xfrm>
          <a:prstGeom prst="ellipse">
            <a:avLst/>
          </a:prstGeom>
          <a:solidFill>
            <a:srgbClr val="FBBF24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5544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589520" y="22860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infrastructure setup</a:t>
            </a:r>
            <a:endParaRPr lang="en-US" sz="7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ready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0424160" y="1938528"/>
            <a:ext cx="274320" cy="274320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0" y="15544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LAUNCH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9875520" y="22860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Go-to-market ready</a:t>
            </a:r>
            <a:endParaRPr lang="en-US" sz="7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clients onboarded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57200" y="3017520"/>
            <a:ext cx="5303520" cy="3291840"/>
          </a:xfrm>
          <a:prstGeom prst="roundRect">
            <a:avLst>
              <a:gd name="adj" fmla="val 2222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" y="3108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3520440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0D1F3C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3593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926080" y="3593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PKR 5K/mo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386791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interviews/month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" y="4297680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0D1F3C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3708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Growth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926080" y="43708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PKR 12K/mo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46451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 interviews/month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" y="5074920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0D1F3C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1480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926080" y="51480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2960" y="54223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Unlimited + priority support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035040" y="3017520"/>
            <a:ext cx="5577840" cy="3291840"/>
          </a:xfrm>
          <a:prstGeom prst="roundRect">
            <a:avLst>
              <a:gd name="adj" fmla="val 2222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217920" y="3108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MARKET &amp; GO-TO-MARKET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217920" y="3474720"/>
            <a:ext cx="36576" cy="438912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0" y="34747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Primary Target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0800" y="367588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 conducting high-volume candidate screening (100+ applications/month)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217920" y="4005072"/>
            <a:ext cx="36576" cy="43891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400507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Initial Strategy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0800" y="4206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onboarding → personal demos → word-of-mouth in university &amp; startup networks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217920" y="4535424"/>
            <a:ext cx="36576" cy="43891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1" name="Text 49"/>
          <p:cNvSpPr/>
          <p:nvPr/>
        </p:nvSpPr>
        <p:spPr>
          <a:xfrm>
            <a:off x="6400800" y="453542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Scaling Strategy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400800" y="473659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Self-serve onboarding → automated payment → API integrations with existing HRIS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17920" y="5065776"/>
            <a:ext cx="36576" cy="43891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0" y="506577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Revenue Model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00800" y="5266944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Subscription-based SaaS: monthly billing, tiered by interview volume per month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217920" y="5596128"/>
            <a:ext cx="36576" cy="43891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0" y="559612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Competitive Edge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5797296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platform offering AI interviews + proctoring + RAG + adaptive questioning in one tool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468880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 ARCHITECTURE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6-LAYER PLATFORM ARCHITECTURE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457200" cy="438912"/>
          </a:xfrm>
          <a:prstGeom prst="roundRect">
            <a:avLst>
              <a:gd name="adj" fmla="val 125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55448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14904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🌐  Public Marketing Surface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17830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page, features, pricing, demo video, SEO optimized, social proof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126480" y="14173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4DB8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554480"/>
            <a:ext cx="457200" cy="438912"/>
          </a:xfrm>
          <a:prstGeom prst="roundRect">
            <a:avLst>
              <a:gd name="adj" fmla="val 12500"/>
            </a:avLst>
          </a:prstGeom>
          <a:solidFill>
            <a:srgbClr val="4DB8FF"/>
          </a:solidFill>
          <a:ln w="9525">
            <a:solidFill>
              <a:srgbClr val="4DB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55448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DB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12280" y="14904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📝  Client Onboarding Pipeline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12280" y="17830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3-step signup → lead capture → admin review → credential delivery → CRM tracking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57200" y="2258568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2395728"/>
            <a:ext cx="457200" cy="438912"/>
          </a:xfrm>
          <a:prstGeom prst="roundRect">
            <a:avLst>
              <a:gd name="adj" fmla="val 12500"/>
            </a:avLst>
          </a:prstGeom>
          <a:solidFill>
            <a:srgbClr val="00D4FF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39572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23317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📊  Client Portal (HR Dashboard)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43000" y="262432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 management, quota tracking, candidate reports, data export, notifications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126480" y="2258568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2395728"/>
            <a:ext cx="457200" cy="438912"/>
          </a:xfrm>
          <a:prstGeom prst="roundRect">
            <a:avLst>
              <a:gd name="adj" fmla="val 12500"/>
            </a:avLst>
          </a:prstGeom>
          <a:solidFill>
            <a:srgbClr val="34D399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39572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12280" y="23317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👤  Candidate Portal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12280" y="262432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Registration, slot booking, pre-interview checks, AI interview, results &amp; recommendations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57200" y="3099816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8640" y="3236976"/>
            <a:ext cx="457200" cy="438912"/>
          </a:xfrm>
          <a:prstGeom prst="roundRect">
            <a:avLst>
              <a:gd name="adj" fmla="val 12500"/>
            </a:avLst>
          </a:prstGeom>
          <a:solidFill>
            <a:srgbClr val="FBBF24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236976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43000" y="31729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⚙  Admin Panel (Operations)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143000" y="34655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CRM, client management, revenue tracking, audit logs, SOS controls, system config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26480" y="3099816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111D33"/>
          </a:solidFill>
          <a:ln w="6350">
            <a:solidFill>
              <a:srgbClr val="F87171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217920" y="3236976"/>
            <a:ext cx="457200" cy="438912"/>
          </a:xfrm>
          <a:prstGeom prst="roundRect">
            <a:avLst>
              <a:gd name="adj" fmla="val 12500"/>
            </a:avLst>
          </a:prstGeom>
          <a:solidFill>
            <a:srgbClr val="F87171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3236976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71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12280" y="31729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🏗  Backend Infrastructure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12280" y="34655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 limiting, APScheduler jobs, daily backups, uptime monitoring, graceful degradation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57200" y="4114800"/>
            <a:ext cx="11155680" cy="2103120"/>
          </a:xfrm>
          <a:prstGeom prst="roundRect">
            <a:avLst>
              <a:gd name="adj" fmla="val 3478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0080" y="4206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 KEY INNOVATION: AUTOMATED SCHEDULING SYSTEM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526280"/>
            <a:ext cx="10789920" cy="1371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Problem Solved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0080" y="4892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bottlenecks from uncontrolled interview distribution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40080" y="5212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Configurable max concurrent interviews (default: 3)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40080" y="5532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Slot interval = duration + 10 min buffer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42900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29000" y="4892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Slots generated 9am-6pm (weekdays)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429000" y="5212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registers → selects slot → system locks it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429000" y="5532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Links delivered exactly at slot time via APScheduler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21792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Automation Jobs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217920" y="4892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1: Send interview link at slot time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217920" y="5212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2: Reminder email 1 hour before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217920" y="5532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3: No-show detection + slot freeing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00684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Zero Manual Work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006840" y="4892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No-show handling fully automatic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9006840" y="5212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Quota warnings at 80% usage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006840" y="5532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email attempts logged with retry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22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865376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DEPLOYMENT ARCHITECTURE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155448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11D33"/>
          </a:solidFill>
          <a:ln w="12700">
            <a:solidFill>
              <a:srgbClr val="2F97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600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Vercel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(Landing Page)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057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Tier</a:t>
            </a:r>
            <a:endParaRPr lang="en-US" sz="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+ SSR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200400" y="155448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11D33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600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Nginx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(Reverse Proxy)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2057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 Termination</a:t>
            </a:r>
            <a:endParaRPr lang="en-US" sz="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Splitting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943600" y="155448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11D33"/>
          </a:solidFill>
          <a:ln w="12700">
            <a:solidFill>
              <a:srgbClr val="4DB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1600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React Build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(Static Files)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0" y="2057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Served by Nginx</a:t>
            </a:r>
            <a:endParaRPr lang="en-US" sz="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build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8686800" y="155448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11D33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1600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Flask API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(Python Backend)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686800" y="2057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PM2 Managed</a:t>
            </a:r>
            <a:endParaRPr lang="en-US" sz="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/api/* Routes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468880" y="1874520"/>
            <a:ext cx="640080" cy="228600"/>
          </a:xfrm>
          <a:prstGeom prst="rightArrow">
            <a:avLst/>
          </a:prstGeom>
          <a:solidFill>
            <a:srgbClr val="2F9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212080" y="1874520"/>
            <a:ext cx="640080" cy="228600"/>
          </a:xfrm>
          <a:prstGeom prst="rightArrow">
            <a:avLst/>
          </a:prstGeom>
          <a:solidFill>
            <a:srgbClr val="00D4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955280" y="1874520"/>
            <a:ext cx="640080" cy="228600"/>
          </a:xfrm>
          <a:prstGeom prst="rightArrow">
            <a:avLst/>
          </a:prstGeom>
          <a:solidFill>
            <a:srgbClr val="4DB8FF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274320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2834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CONTABO CLOUD VPS 20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309067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Singapore Region — Lowest latency for Pakistani users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" y="34015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⚡  </a:t>
            </a:r>
            <a:r>
              <a:rPr lang="en-US" sz="10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vCPU: </a:t>
            </a: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Cores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37673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💾  </a:t>
            </a:r>
            <a:r>
              <a:rPr lang="en-US" sz="10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RAM: </a:t>
            </a: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GB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41330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📀  </a:t>
            </a:r>
            <a:r>
              <a:rPr lang="en-US" sz="10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Storage: </a:t>
            </a: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200 GB NVMe SSD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44988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🌐  </a:t>
            </a:r>
            <a:r>
              <a:rPr lang="en-US" sz="10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Bandwidth: </a:t>
            </a: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Unlimited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4864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💰  </a:t>
            </a:r>
            <a:r>
              <a:rPr lang="en-US" sz="10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Cost: </a:t>
            </a: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~$6-8/month (12-mo)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35040" y="2743200"/>
            <a:ext cx="5577840" cy="2743200"/>
          </a:xfrm>
          <a:prstGeom prst="roundRect">
            <a:avLst>
              <a:gd name="adj" fmla="val 2667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217920" y="2834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CI/CD &amp; MONITORING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3255264"/>
            <a:ext cx="109728" cy="109728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320040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3383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to main → SSH → git pull → build → pm2 restart → live in &lt; 60 seconds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309360" y="3694176"/>
            <a:ext cx="109728" cy="109728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40" name="Text 38"/>
          <p:cNvSpPr/>
          <p:nvPr/>
        </p:nvSpPr>
        <p:spPr>
          <a:xfrm>
            <a:off x="6537960" y="363931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PM2 Process Manager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537960" y="3822192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Keeps Flask alive 24/7, auto-restart on crash, survives reboots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309360" y="4133088"/>
            <a:ext cx="109728" cy="109728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43" name="Text 41"/>
          <p:cNvSpPr/>
          <p:nvPr/>
        </p:nvSpPr>
        <p:spPr>
          <a:xfrm>
            <a:off x="6537960" y="407822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Netdata Monitoring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37960" y="4261104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CPU, RAM, disk I/O, network, active processes dashboard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309360" y="4572000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46" name="Text 44"/>
          <p:cNvSpPr/>
          <p:nvPr/>
        </p:nvSpPr>
        <p:spPr>
          <a:xfrm>
            <a:off x="6537960" y="4517136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UptimeRobot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37960" y="4700016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uptime monitoring, email alert within 5 minutes of downtime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309360" y="5010912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49" name="Text 47"/>
          <p:cNvSpPr/>
          <p:nvPr/>
        </p:nvSpPr>
        <p:spPr>
          <a:xfrm>
            <a:off x="6537960" y="495604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Hostinger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537960" y="5138928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registration + professional email mailboxes for client comms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57200" y="5669280"/>
            <a:ext cx="11155680" cy="1188720"/>
          </a:xfrm>
          <a:prstGeom prst="roundRect">
            <a:avLst>
              <a:gd name="adj" fmla="val 461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" y="5678424"/>
            <a:ext cx="11137392" cy="228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3" name="Shape 51"/>
          <p:cNvSpPr/>
          <p:nvPr/>
        </p:nvSpPr>
        <p:spPr>
          <a:xfrm>
            <a:off x="594360" y="5742432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54" name="Shape 52"/>
          <p:cNvSpPr/>
          <p:nvPr/>
        </p:nvSpPr>
        <p:spPr>
          <a:xfrm>
            <a:off x="777240" y="5742432"/>
            <a:ext cx="91440" cy="91440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55" name="Shape 53"/>
          <p:cNvSpPr/>
          <p:nvPr/>
        </p:nvSpPr>
        <p:spPr>
          <a:xfrm>
            <a:off x="960120" y="5742432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56" name="Text 54"/>
          <p:cNvSpPr/>
          <p:nvPr/>
        </p:nvSpPr>
        <p:spPr>
          <a:xfrm>
            <a:off x="1188720" y="5687568"/>
            <a:ext cx="10241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deploy.yml — GitHub Actions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94360" y="59436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.github/workflows/deploy.yml — Auto-Deployment Pipeline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name: Deploy to Production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push: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branches: [main]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jobs: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deploy: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runs-on: ubuntu-latest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steps: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- name: Deploy via SSH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uses: appleboy/ssh-action@master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with: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host: ${{ secrets.VPS_HOST }}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username: root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key: ${{ secrets.SSH_KEY }}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script: |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cd /var/www/intellihire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git pull origin main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cd frontend &amp;&amp; npm run build</a:t>
            </a:r>
            <a:endParaRPr lang="en-US" sz="700" dirty="0"/>
          </a:p>
          <a:p>
            <a:pPr marL="0" indent="0" algn="l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pm2 restart intellihire-api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2569464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2478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&amp; COMPLIANCE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LEGAL, SECURITY &amp; COMPLIANCE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417320"/>
            <a:ext cx="2651760" cy="32004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1554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196596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Privacy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2258568"/>
            <a:ext cx="2432304" cy="1371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3774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GDPR &amp; Pakistan PDPA compliant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269748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consent before every interview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66928" y="301752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disclosure: explicit notification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66928" y="333756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retention notice with timeline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66928" y="365760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Deletion on request with confirmation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66928" y="39776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 records with timestamp + IP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291840" y="14173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91840" y="1417320"/>
            <a:ext cx="2651760" cy="3200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68" y="1554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401568" y="196596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Platform Security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01568" y="2258568"/>
            <a:ext cx="2432304" cy="1371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7" name="Text 25"/>
          <p:cNvSpPr/>
          <p:nvPr/>
        </p:nvSpPr>
        <p:spPr>
          <a:xfrm>
            <a:off x="3401568" y="23774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JWT-based authentication (role-based)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401568" y="269748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Per-client rate limiting (Flask-Limiter + Redis)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401568" y="301752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HTTPS/SSL via Nginx termination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401568" y="333756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automated daily backups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401568" y="365760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Append-only audit logs (never deletable)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401568" y="39776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 API degradation + auto-retry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126480" y="14173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126480" y="1417320"/>
            <a:ext cx="2651760" cy="3200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5" name="Text 33"/>
          <p:cNvSpPr/>
          <p:nvPr/>
        </p:nvSpPr>
        <p:spPr>
          <a:xfrm>
            <a:off x="6236208" y="1554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236208" y="196596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Legal Framework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36208" y="2258568"/>
            <a:ext cx="2432304" cy="1371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8" name="Text 36"/>
          <p:cNvSpPr/>
          <p:nvPr/>
        </p:nvSpPr>
        <p:spPr>
          <a:xfrm>
            <a:off x="6236208" y="23774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Policy &amp; Terms of Service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236208" y="269748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Processing Agreement (DPA) for clients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236208" y="301752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= Data Controller, IntelliHire = Processor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36208" y="333756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Sub-processors disclosed in DPA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36208" y="365760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data deletion request flow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236208" y="39776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 link expiry &amp; access controls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8961120" y="14173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961120" y="1417320"/>
            <a:ext cx="2651760" cy="3200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6" name="Text 44"/>
          <p:cNvSpPr/>
          <p:nvPr/>
        </p:nvSpPr>
        <p:spPr>
          <a:xfrm>
            <a:off x="9070848" y="1554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9070848" y="196596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Operational Safety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070848" y="2258568"/>
            <a:ext cx="2432304" cy="1371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9" name="Text 47"/>
          <p:cNvSpPr/>
          <p:nvPr/>
        </p:nvSpPr>
        <p:spPr>
          <a:xfrm>
            <a:off x="9070848" y="23774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Pause new interviews toggle (SOS)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070848" y="269748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mode toggle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9070848" y="301752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alert email to all clients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9070848" y="333756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UptimeRobot: 5-min downtime alerts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9070848" y="365760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Configurable system settings in admin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9070848" y="3977640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</a:t>
            </a: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logs with retry for failures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57200" y="489204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111D33"/>
          </a:solidFill>
          <a:ln w="6350">
            <a:solidFill>
              <a:srgbClr val="F87171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40080" y="4983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🚨  ADMIN SOS CONTROLS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39496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BBF24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13232" y="5486400"/>
            <a:ext cx="411480" cy="1828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59" name="Shape 57"/>
          <p:cNvSpPr/>
          <p:nvPr/>
        </p:nvSpPr>
        <p:spPr>
          <a:xfrm>
            <a:off x="896112" y="549554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1143000" y="53949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Pause Interviews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834640" y="539496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B923C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907792" y="5486400"/>
            <a:ext cx="411480" cy="182880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63" name="Shape 61"/>
          <p:cNvSpPr/>
          <p:nvPr/>
        </p:nvSpPr>
        <p:spPr>
          <a:xfrm>
            <a:off x="3090672" y="549554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3337560" y="53949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B923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Pause Signups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029200" y="539496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87171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02352" y="5486400"/>
            <a:ext cx="411480" cy="18288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67" name="Shape 65"/>
          <p:cNvSpPr/>
          <p:nvPr/>
        </p:nvSpPr>
        <p:spPr>
          <a:xfrm>
            <a:off x="5285232" y="549554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5532120" y="53949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871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 Mode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7223760" y="539496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472B6"/>
          </a:solidFill>
          <a:ln w="9525">
            <a:solidFill>
              <a:srgbClr val="F472B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96912" y="5486400"/>
            <a:ext cx="411480" cy="182880"/>
          </a:xfrm>
          <a:prstGeom prst="roundRect">
            <a:avLst>
              <a:gd name="adj" fmla="val 50000"/>
            </a:avLst>
          </a:prstGeom>
          <a:solidFill>
            <a:srgbClr val="F472B6"/>
          </a:solidFill>
          <a:ln/>
        </p:spPr>
      </p:sp>
      <p:sp>
        <p:nvSpPr>
          <p:cNvPr id="71" name="Shape 69"/>
          <p:cNvSpPr/>
          <p:nvPr/>
        </p:nvSpPr>
        <p:spPr>
          <a:xfrm>
            <a:off x="7479792" y="549554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7726680" y="53949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472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 All Clients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9418320" y="539496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491472" y="5486400"/>
            <a:ext cx="411480" cy="182880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/>
        </p:spPr>
      </p:sp>
      <p:sp>
        <p:nvSpPr>
          <p:cNvPr id="75" name="Shape 73"/>
          <p:cNvSpPr/>
          <p:nvPr/>
        </p:nvSpPr>
        <p:spPr>
          <a:xfrm>
            <a:off x="9674352" y="549554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" name="Text 74"/>
          <p:cNvSpPr/>
          <p:nvPr/>
        </p:nvSpPr>
        <p:spPr>
          <a:xfrm>
            <a:off x="9921240" y="53949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Backup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563624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472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NEXT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FUTURE FEATURES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417320"/>
            <a:ext cx="36576" cy="86868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49047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🤝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51560" y="146304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Cross-Company Candidate Sharing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51560" y="1719072"/>
            <a:ext cx="4572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Candidates interviewed on IntelliHire can opt-in to share their scores with other hiring companies. Interviewers can discover pre-screened talent matching their requirements — with consent from both parties.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080760" y="141732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417320"/>
            <a:ext cx="36576" cy="86868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149047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📈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75120" y="146304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Advanced Analytics Dashboard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675120" y="1719072"/>
            <a:ext cx="4572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Company-wide hiring metrics, funnel conversion rates, time-to-hire analytics, interviewer performance tracking, and AI-powered hiring trend predictions.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57200" y="242316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423160"/>
            <a:ext cx="36576" cy="8686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49631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🌍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51560" y="246888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Multi-Language Interview Support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51560" y="2724912"/>
            <a:ext cx="4572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STT/TTS to support Urdu, Arabic, and other regional languages — expanding market reach beyond English-speaking candidates.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080760" y="242316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2423160"/>
            <a:ext cx="36576" cy="8686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249631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🔗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675120" y="246888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Integrations &amp; Webhooks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75120" y="2724912"/>
            <a:ext cx="4572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for third-party HRIS integration (BambooHR, Workday). Webhook notifications for interview completions, score updates, and pipeline changes.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111D33"/>
          </a:solidFill>
          <a:ln w="6350">
            <a:solidFill>
              <a:srgbClr val="A78BFA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3429000"/>
            <a:ext cx="36576" cy="8686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350215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🏷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051560" y="347472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White-Label Deployment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51560" y="3730752"/>
            <a:ext cx="4572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Client-branded interview portal with custom domains, logos, and color schemes. Full branding customization for enterprise clients.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080760" y="342900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111D33"/>
          </a:solidFill>
          <a:ln w="6350">
            <a:solidFill>
              <a:srgbClr val="F472B6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80760" y="3429000"/>
            <a:ext cx="36576" cy="86868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350215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📱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6675120" y="347472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Mobile Application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675120" y="3730752"/>
            <a:ext cx="4572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 mobile app for candidates to complete interviews on mobile devices with native camera/mic access and push notifications.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57200" y="4572000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0080" y="4663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22960" y="5349240"/>
            <a:ext cx="10515600" cy="2743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4" name="Shape 42"/>
          <p:cNvSpPr/>
          <p:nvPr/>
        </p:nvSpPr>
        <p:spPr>
          <a:xfrm>
            <a:off x="1280160" y="5230368"/>
            <a:ext cx="256032" cy="256032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4983480"/>
            <a:ext cx="11887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49834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822960" y="5577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Academic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Prototype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108960" y="5230368"/>
            <a:ext cx="256032" cy="256032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51760" y="4983480"/>
            <a:ext cx="11887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51760" y="49834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2651760" y="5577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Feature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937760" y="5230368"/>
            <a:ext cx="256032" cy="256032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480560" y="4983480"/>
            <a:ext cx="11887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80560" y="49834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480560" y="5577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766560" y="5230368"/>
            <a:ext cx="256032" cy="256032"/>
          </a:xfrm>
          <a:prstGeom prst="ellipse">
            <a:avLst/>
          </a:prstGeom>
          <a:solidFill>
            <a:srgbClr val="FBBF24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9360" y="4983480"/>
            <a:ext cx="1188720" cy="1828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0" y="49834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PROGRESS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6309360" y="5577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Cloud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8595360" y="5230368"/>
            <a:ext cx="256032" cy="256032"/>
          </a:xfrm>
          <a:prstGeom prst="ellipse">
            <a:avLst/>
          </a:prstGeom>
          <a:solidFill>
            <a:srgbClr val="5A7A9E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38160" y="4983480"/>
            <a:ext cx="1188720" cy="182880"/>
          </a:xfrm>
          <a:prstGeom prst="roundRect">
            <a:avLst>
              <a:gd name="adj" fmla="val 50000"/>
            </a:avLst>
          </a:prstGeom>
          <a:solidFill>
            <a:srgbClr val="5A7A9E"/>
          </a:solidFill>
          <a:ln w="6350">
            <a:solidFill>
              <a:srgbClr val="5A7A9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38160" y="49834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A7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8138160" y="5577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Beta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Launch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10424160" y="5230368"/>
            <a:ext cx="256032" cy="256032"/>
          </a:xfrm>
          <a:prstGeom prst="ellipse">
            <a:avLst/>
          </a:prstGeom>
          <a:solidFill>
            <a:srgbClr val="5A7A9E"/>
          </a:solidFill>
          <a:ln w="25400">
            <a:solidFill>
              <a:srgbClr val="0A162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966960" y="4983480"/>
            <a:ext cx="1188720" cy="182880"/>
          </a:xfrm>
          <a:prstGeom prst="roundRect">
            <a:avLst>
              <a:gd name="adj" fmla="val 50000"/>
            </a:avLst>
          </a:prstGeom>
          <a:solidFill>
            <a:srgbClr val="5A7A9E"/>
          </a:solidFill>
          <a:ln w="6350">
            <a:solidFill>
              <a:srgbClr val="5A7A9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66960" y="49834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A7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9966960" y="5577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Production</a:t>
            </a:r>
            <a:endParaRPr lang="en-US" sz="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SaaS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22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21424"/>
            <a:ext cx="12192000" cy="36576"/>
          </a:xfrm>
          <a:prstGeom prst="rect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200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85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INTELLIHIRE MATTERS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2F97F7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1600200"/>
            <a:ext cx="411480" cy="411480"/>
          </a:xfrm>
          <a:prstGeom prst="ellipse">
            <a:avLst/>
          </a:prstGeom>
          <a:solidFill>
            <a:srgbClr val="2F97F7"/>
          </a:solidFill>
          <a:ln w="12700">
            <a:solidFill>
              <a:srgbClr val="2F97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15087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Just a Prototype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18013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layer of a real SaaS product is addressed: marketing, onboarding, client management, candidate experience, operations, compliance, infrastructure.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313432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00D4FF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2496312"/>
            <a:ext cx="411480" cy="4114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963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240487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Full-Stack AI Capability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2697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Showcases mastery across frontend, backend, AI/ML integration, DevOps, and product thinking — all in one cohesive system.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209544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34D399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3392424"/>
            <a:ext cx="411480" cy="4114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924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330098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Production-Ready Architecture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34440" y="359359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pipeline, automated scheduling, rate limiting, daily backups, uptime monitoring, graceful degradation — built for reliability.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10565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FBBF24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4288536"/>
            <a:ext cx="411480" cy="41148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2885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34440" y="41970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Commercially Viable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34440" y="448970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Tiered subscription pricing, client onboarding flow, CRM tracking, revenue dashboard, legal compliance — ready for real customers.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5001768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11D33"/>
          </a:solidFill>
          <a:ln w="6350">
            <a:solidFill>
              <a:srgbClr val="A78BFA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5184648"/>
            <a:ext cx="411480" cy="4114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1846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234440" y="50932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Market Position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234440" y="538581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A3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only platform combining AI interviews + real-time proctoring + RAG questioning + sentiment analysis + HR chatbot in a single product.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828800" y="598932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F97F7"/>
          </a:solidFill>
          <a:ln w="12700">
            <a:solidFill>
              <a:srgbClr val="2F97F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28800" y="59893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journey: Idea  →  FYP  →  Product  →  Startup-Ready SaaS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22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2F97F7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A6BC4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5" name="Shape 3"/>
          <p:cNvSpPr/>
          <p:nvPr/>
        </p:nvSpPr>
        <p:spPr>
          <a:xfrm rot="900000">
            <a:off x="914400" y="4572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6" name="Shape 4"/>
          <p:cNvSpPr/>
          <p:nvPr/>
        </p:nvSpPr>
        <p:spPr>
          <a:xfrm rot="1200000">
            <a:off x="3474720" y="4572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7" name="Shape 5"/>
          <p:cNvSpPr/>
          <p:nvPr/>
        </p:nvSpPr>
        <p:spPr>
          <a:xfrm rot="1500000">
            <a:off x="6035040" y="4572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8" name="Shape 6"/>
          <p:cNvSpPr/>
          <p:nvPr/>
        </p:nvSpPr>
        <p:spPr>
          <a:xfrm rot="1800000">
            <a:off x="8595360" y="4572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9" name="Shape 7"/>
          <p:cNvSpPr/>
          <p:nvPr/>
        </p:nvSpPr>
        <p:spPr>
          <a:xfrm rot="2100000">
            <a:off x="914400" y="22860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0" name="Shape 8"/>
          <p:cNvSpPr/>
          <p:nvPr/>
        </p:nvSpPr>
        <p:spPr>
          <a:xfrm rot="2400000">
            <a:off x="3474720" y="22860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1" name="Shape 9"/>
          <p:cNvSpPr/>
          <p:nvPr/>
        </p:nvSpPr>
        <p:spPr>
          <a:xfrm rot="2700000">
            <a:off x="6035040" y="22860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2" name="Shape 10"/>
          <p:cNvSpPr/>
          <p:nvPr/>
        </p:nvSpPr>
        <p:spPr>
          <a:xfrm rot="3000000">
            <a:off x="8595360" y="2286000"/>
            <a:ext cx="457200" cy="45720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37160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2F97F7">
                    <a:alpha val="60000"/>
                  </a:srgbClr>
                </a:solidFill>
              </a:rPr>
              <a:t>◆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0" y="256032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0" y="338328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4DB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114800" y="4114800"/>
            <a:ext cx="3840480" cy="22860"/>
          </a:xfrm>
          <a:prstGeom prst="rect">
            <a:avLst/>
          </a:prstGeom>
          <a:solidFill>
            <a:srgbClr val="2F97F7"/>
          </a:solidFill>
          <a:ln/>
        </p:spPr>
      </p:sp>
      <p:sp>
        <p:nvSpPr>
          <p:cNvPr id="17" name="Text 15"/>
          <p:cNvSpPr/>
          <p:nvPr/>
        </p:nvSpPr>
        <p:spPr>
          <a:xfrm>
            <a:off x="0" y="4389120"/>
            <a:ext cx="1219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3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 — AI-Powered Dual-Purpose HR Support System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0" y="47548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NUCES  ·  Final Year Project  </a:t>
            </a:r>
            <a:r>
              <a:rPr lang="en-US" sz="100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2025-2026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0" y="512064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Muhammad Omer Khan  ·  Muhammad Muhib Siddiqui  ·  Syed Muhammad Salik Ahmed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0" y="5459615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F97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Supervisor: Miss  Sobia Iftikhar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0" y="6035040"/>
            <a:ext cx="662940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0" y="6035040"/>
            <a:ext cx="6629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Flask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46120" y="6035040"/>
            <a:ext cx="662940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6035040"/>
            <a:ext cx="6629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React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06240" y="6035040"/>
            <a:ext cx="662940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06240" y="6035040"/>
            <a:ext cx="6629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MySQL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166360" y="6035040"/>
            <a:ext cx="740664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6360" y="6035040"/>
            <a:ext cx="740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YOLOv8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126480" y="6035040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6035040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DeepSeek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86600" y="6035040"/>
            <a:ext cx="973836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86600" y="6035040"/>
            <a:ext cx="9738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Gemini AI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046720" y="6035040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0" y="6035040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ChromaDB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9006840" y="6035040"/>
            <a:ext cx="973836" cy="256032"/>
          </a:xfrm>
          <a:prstGeom prst="roundRect">
            <a:avLst>
              <a:gd name="adj" fmla="val 50000"/>
            </a:avLst>
          </a:prstGeom>
          <a:solidFill>
            <a:srgbClr val="2F97F7"/>
          </a:solidFill>
          <a:ln w="9525">
            <a:solidFill>
              <a:srgbClr val="2F97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06840" y="6035040"/>
            <a:ext cx="9738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97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MediaPipe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0789920" y="182880"/>
            <a:ext cx="1188720" cy="320040"/>
          </a:xfrm>
          <a:prstGeom prst="roundRect">
            <a:avLst>
              <a:gd name="adj" fmla="val 14286"/>
            </a:avLst>
          </a:prstGeom>
          <a:solidFill>
            <a:srgbClr val="2F97F7"/>
          </a:solidFill>
          <a:ln w="6350">
            <a:solidFill>
              <a:srgbClr val="2F97F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789920" y="182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</a:t>
            </a: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IntelliHire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4031</Words>
  <Application>Microsoft Office PowerPoint</Application>
  <PresentationFormat>Widescreen</PresentationFormat>
  <Paragraphs>886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Cascadia Code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FAST NUCES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IntelliHire — AI-Powered Dual-Purpose HR Support System</dc:title>
  <dc:subject>Final Year Project Presentation</dc:subject>
  <dc:creator>IntelliHire Team</dc:creator>
  <cp:lastModifiedBy>muhib siddiqui</cp:lastModifiedBy>
  <cp:revision>3</cp:revision>
  <dcterms:created xsi:type="dcterms:W3CDTF">2026-04-10T02:32:43Z</dcterms:created>
  <dcterms:modified xsi:type="dcterms:W3CDTF">2026-04-11T16:54:48Z</dcterms:modified>
</cp:coreProperties>
</file>